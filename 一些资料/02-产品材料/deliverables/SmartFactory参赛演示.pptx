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9b2c35c654f13" /><Relationship Type="http://schemas.openxmlformats.org/officeDocument/2006/relationships/extended-properties" Target="/docProps/app.xml" Id="R7a77ef83107c46f6" /><Relationship Type="http://schemas.openxmlformats.org/officeDocument/2006/relationships/officeDocument" Target="/ppt/presentation.xml" Id="R50ed89b36db046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c482169d0b429c"/>
  </p:sldMasterIdLst>
  <p:notesMasterIdLst>
    <p:notesMasterId xmlns:r="http://schemas.openxmlformats.org/officeDocument/2006/relationships" r:id="Rd6af32bb837f4652"/>
  </p:notesMasterIdLst>
  <p:sldIdLst>
    <p:sldId xmlns:r="http://schemas.openxmlformats.org/officeDocument/2006/relationships" id="256" r:id="R83fcfc7be85c4586"/>
    <p:sldId xmlns:r="http://schemas.openxmlformats.org/officeDocument/2006/relationships" id="257" r:id="Ra670f299658b49b4"/>
    <p:sldId xmlns:r="http://schemas.openxmlformats.org/officeDocument/2006/relationships" id="258" r:id="Rb2254cc31d014b27"/>
    <p:sldId xmlns:r="http://schemas.openxmlformats.org/officeDocument/2006/relationships" id="259" r:id="R39b845e306bc44e5"/>
    <p:sldId xmlns:r="http://schemas.openxmlformats.org/officeDocument/2006/relationships" id="260" r:id="R539e0b34dd1c4576"/>
    <p:sldId xmlns:r="http://schemas.openxmlformats.org/officeDocument/2006/relationships" id="261" r:id="R1ae4482ac3d047b9"/>
    <p:sldId xmlns:r="http://schemas.openxmlformats.org/officeDocument/2006/relationships" id="262" r:id="Rdd14638f874f4dee"/>
    <p:sldId xmlns:r="http://schemas.openxmlformats.org/officeDocument/2006/relationships" id="263" r:id="R65a98b2435744122"/>
    <p:sldId xmlns:r="http://schemas.openxmlformats.org/officeDocument/2006/relationships" id="264" r:id="R64bef4efda5b4a63"/>
    <p:sldId xmlns:r="http://schemas.openxmlformats.org/officeDocument/2006/relationships" id="265" r:id="Rb21a304304d14412"/>
    <p:sldId xmlns:r="http://schemas.openxmlformats.org/officeDocument/2006/relationships" id="266" r:id="R9b90f509ff0641a3"/>
    <p:sldId xmlns:r="http://schemas.openxmlformats.org/officeDocument/2006/relationships" id="267" r:id="R4563f3f617de4128"/>
    <p:sldId xmlns:r="http://schemas.openxmlformats.org/officeDocument/2006/relationships" id="268" r:id="R235c5220110d40ed"/>
    <p:sldId xmlns:r="http://schemas.openxmlformats.org/officeDocument/2006/relationships" id="269" r:id="Rb34b8f817d2d4b44"/>
    <p:sldId xmlns:r="http://schemas.openxmlformats.org/officeDocument/2006/relationships" id="270" r:id="Rfb5ef197ec264ae6"/>
    <p:sldId xmlns:r="http://schemas.openxmlformats.org/officeDocument/2006/relationships" id="271" r:id="R7c8e755653974077"/>
    <p:sldId xmlns:r="http://schemas.openxmlformats.org/officeDocument/2006/relationships" id="272" r:id="R28607f3eb416486c"/>
    <p:sldId xmlns:r="http://schemas.openxmlformats.org/officeDocument/2006/relationships" id="273" r:id="R0c523f3dbab645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b7fd5ee5b47f0" /><Relationship Type="http://schemas.openxmlformats.org/officeDocument/2006/relationships/slideMaster" Target="/ppt/slideMasters/slideMaster1.xml" Id="R5cc482169d0b429c" /><Relationship Type="http://schemas.openxmlformats.org/officeDocument/2006/relationships/notesMaster" Target="/ppt/notesMasters/notesMaster1.xml" Id="Rd6af32bb837f4652" /><Relationship Type="http://schemas.openxmlformats.org/officeDocument/2006/relationships/presProps" Target="/ppt/presProps.xml" Id="Rb79d621cfe6b4749" /><Relationship Type="http://schemas.openxmlformats.org/officeDocument/2006/relationships/tableStyles" Target="/ppt/tableStyles.xml" Id="R2c235a2692d342a0" /><Relationship Type="http://schemas.openxmlformats.org/officeDocument/2006/relationships/slide" Target="/ppt/slides/slide1.xml" Id="R83fcfc7be85c4586" /><Relationship Type="http://schemas.openxmlformats.org/officeDocument/2006/relationships/slide" Target="/ppt/slides/slide2.xml" Id="Ra670f299658b49b4" /><Relationship Type="http://schemas.openxmlformats.org/officeDocument/2006/relationships/slide" Target="/ppt/slides/slide3.xml" Id="Rb2254cc31d014b27" /><Relationship Type="http://schemas.openxmlformats.org/officeDocument/2006/relationships/slide" Target="/ppt/slides/slide4.xml" Id="R39b845e306bc44e5" /><Relationship Type="http://schemas.openxmlformats.org/officeDocument/2006/relationships/slide" Target="/ppt/slides/slide5.xml" Id="R539e0b34dd1c4576" /><Relationship Type="http://schemas.openxmlformats.org/officeDocument/2006/relationships/slide" Target="/ppt/slides/slide6.xml" Id="R1ae4482ac3d047b9" /><Relationship Type="http://schemas.openxmlformats.org/officeDocument/2006/relationships/slide" Target="/ppt/slides/slide7.xml" Id="Rdd14638f874f4dee" /><Relationship Type="http://schemas.openxmlformats.org/officeDocument/2006/relationships/slide" Target="/ppt/slides/slide8.xml" Id="R65a98b2435744122" /><Relationship Type="http://schemas.openxmlformats.org/officeDocument/2006/relationships/slide" Target="/ppt/slides/slide9.xml" Id="R64bef4efda5b4a63" /><Relationship Type="http://schemas.openxmlformats.org/officeDocument/2006/relationships/slide" Target="/ppt/slides/slide10.xml" Id="Rb21a304304d14412" /><Relationship Type="http://schemas.openxmlformats.org/officeDocument/2006/relationships/slide" Target="/ppt/slides/slide11.xml" Id="R9b90f509ff0641a3" /><Relationship Type="http://schemas.openxmlformats.org/officeDocument/2006/relationships/slide" Target="/ppt/slides/slide12.xml" Id="R4563f3f617de4128" /><Relationship Type="http://schemas.openxmlformats.org/officeDocument/2006/relationships/slide" Target="/ppt/slides/slide13.xml" Id="R235c5220110d40ed" /><Relationship Type="http://schemas.openxmlformats.org/officeDocument/2006/relationships/slide" Target="/ppt/slides/slide14.xml" Id="Rb34b8f817d2d4b44" /><Relationship Type="http://schemas.openxmlformats.org/officeDocument/2006/relationships/slide" Target="/ppt/slides/slide15.xml" Id="Rfb5ef197ec264ae6" /><Relationship Type="http://schemas.openxmlformats.org/officeDocument/2006/relationships/slide" Target="/ppt/slides/slide16.xml" Id="R7c8e755653974077" /><Relationship Type="http://schemas.openxmlformats.org/officeDocument/2006/relationships/slide" Target="/ppt/slides/slide17.xml" Id="R28607f3eb416486c" /><Relationship Type="http://schemas.openxmlformats.org/officeDocument/2006/relationships/slide" Target="/ppt/slides/slide18.xml" Id="R0c523f3dbab645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377c80563f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03fd5cc2647d4" /><Relationship Type="http://schemas.openxmlformats.org/officeDocument/2006/relationships/notesMaster" Target="/ppt/notesMasters/notesMaster1.xml" Id="R1a225288701947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f753a68c684711" /><Relationship Type="http://schemas.openxmlformats.org/officeDocument/2006/relationships/notesMaster" Target="/ppt/notesMasters/notesMaster1.xml" Id="Rdc844b7464e04c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012c3e935e4072" /><Relationship Type="http://schemas.openxmlformats.org/officeDocument/2006/relationships/notesMaster" Target="/ppt/notesMasters/notesMaster1.xml" Id="Rc0b25f4caea54a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c2ef5258c4844" /><Relationship Type="http://schemas.openxmlformats.org/officeDocument/2006/relationships/notesMaster" Target="/ppt/notesMasters/notesMaster1.xml" Id="R5d26c7f477ac4f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d8249cc04247fc" /><Relationship Type="http://schemas.openxmlformats.org/officeDocument/2006/relationships/notesMaster" Target="/ppt/notesMasters/notesMaster1.xml" Id="Rf131196aa87f4b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fb2ad64f8a42a2" /><Relationship Type="http://schemas.openxmlformats.org/officeDocument/2006/relationships/notesMaster" Target="/ppt/notesMasters/notesMaster1.xml" Id="R5745fd425834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8b0114c5fa4388" /><Relationship Type="http://schemas.openxmlformats.org/officeDocument/2006/relationships/notesMaster" Target="/ppt/notesMasters/notesMaster1.xml" Id="Rf3d8cd4cb3364f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e1153c10d74daf" /><Relationship Type="http://schemas.openxmlformats.org/officeDocument/2006/relationships/notesMaster" Target="/ppt/notesMasters/notesMaster1.xml" Id="R7dd97f4e990247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e6de8a3fd649d5" /><Relationship Type="http://schemas.openxmlformats.org/officeDocument/2006/relationships/notesMaster" Target="/ppt/notesMasters/notesMaster1.xml" Id="Ra690bf6444374a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438841d1534fbf" /><Relationship Type="http://schemas.openxmlformats.org/officeDocument/2006/relationships/notesMaster" Target="/ppt/notesMasters/notesMaster1.xml" Id="Re95cc0a0eb5442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1b95539008424b" /><Relationship Type="http://schemas.openxmlformats.org/officeDocument/2006/relationships/notesMaster" Target="/ppt/notesMasters/notesMaster1.xml" Id="Raacb672d41ff48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506b548a1742a4" /><Relationship Type="http://schemas.openxmlformats.org/officeDocument/2006/relationships/notesMaster" Target="/ppt/notesMasters/notesMaster1.xml" Id="R51e02ec911384a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3c82fa39d844d0" /><Relationship Type="http://schemas.openxmlformats.org/officeDocument/2006/relationships/notesMaster" Target="/ppt/notesMasters/notesMaster1.xml" Id="Rb92581e5e88b44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44dcec220b4c59" /><Relationship Type="http://schemas.openxmlformats.org/officeDocument/2006/relationships/notesMaster" Target="/ppt/notesMasters/notesMaster1.xml" Id="Rf9beb7b2433a4b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a090cdda7a47f6" /><Relationship Type="http://schemas.openxmlformats.org/officeDocument/2006/relationships/notesMaster" Target="/ppt/notesMasters/notesMaster1.xml" Id="R9a51a4f811cf44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e45a57157949a9" /><Relationship Type="http://schemas.openxmlformats.org/officeDocument/2006/relationships/notesMaster" Target="/ppt/notesMasters/notesMaster1.xml" Id="R0406fc4a1d564d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fd40d644ec4167" /><Relationship Type="http://schemas.openxmlformats.org/officeDocument/2006/relationships/notesMaster" Target="/ppt/notesMasters/notesMaster1.xml" Id="Rea3f9bd72e0141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7748678c034512" /><Relationship Type="http://schemas.openxmlformats.org/officeDocument/2006/relationships/notesMaster" Target="/ppt/notesMasters/notesMaster1.xml" Id="R97c4c79f5fe648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SmartFactory 面向设备监测、现场联动和日常运维。平台把观测、规则、执行与人员协作关联到同一批业务对象，使用者能够从一次异常继续追踪到控制反馈和工单责任。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工业现场存在多种协议和不同岗位。SmartFactory 以统一设备身份组织数据，再把规则、告警、控制和工单连接到相应的业务对象。云端处理全厂协作，现场服务负责本地采集和已发布规则。配图为应用运行界面，采用本机五场景示例数据。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https://github.com/Sakirina/SmartFactory-2026/blob/v1.1.0/README.md</a:t>
            </a:r>
          </a:p>
          <a:p xmlns:a="http://schemas.openxmlformats.org/drawingml/2006/main">
            <a:r>
              <a:t>https://github.com/Sakirina/SmartFactory-2026/blob/v1.1.0/Wiki/user-guide/console.md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五类模板覆盖环境、人员感应、气体、移动设备和事件计数。温湿度采用阈值及回差，照明采用存在状态和延时，危气分别判断烟雾、可燃气和一氧化碳，AGV 结合距离和联锁，计数按稳定事件身份去除重复。各模板绑定实际设备和正式连接器，再生成可评审草稿。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https://github.com/Sakirina/SmartFactory-2026/blob/v1.1.0/Wiki/tutorials/five-scenes.md</a:t>
            </a:r>
          </a:p>
          <a:p xmlns:a="http://schemas.openxmlformats.org/drawingml/2006/main">
            <a:r>
              <a:t>https://github.com/Sakirina/SmartFactory-2026/blob/v1.1.0/Wiki/user-guide/business-workbench.md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DataTransfer 就近采集设备，边缘业务服务保存观测并执行规则和控制，云端汇集数据与业务记录。独立配置中心按工作负载身份分发固定内容，发布代理核验工件并管理 Edge 子进程。ThingsBoard CE 和 Edge 承担原生实体、遥测和告警投影，多节点预案通过 NATS JetStream 维护执行权与签名检查点。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https://github.com/Sakirina/SmartFactory-2026/blob/v1.1.0/Wiki/architecture/overview.md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需要由所属现场核对并批准，采集桥检查设备身份、节点归属和配置版本后保存观测。协议参数和扩展字段在版本化表单中维护。数据同时保留精确值、单位、质量和时间，图表显示、精确表格与完整导出各自采用适合的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https://github.com/Sakirina/SmartFactory-2026/blob/v1.1.0/Wiki/user-guide/devices-assets.md</a:t>
            </a:r>
          </a:p>
          <a:p xmlns:a="http://schemas.openxmlformats.org/drawingml/2006/main">
            <a:r>
              <a:t>https://github.com/Sakirina/SmartFactory-2026/blob/v1.1.0/Wiki/user-guide/data.md</a:t>
            </a:r>
          </a:p>
          <a:p xmlns:a="http://schemas.openxmlformats.org/drawingml/2006/main">
            <a:r>
              <a:t>https://github.com/Sakirina/SmartFactory-2026/blob/v1.1.0/Wiki/integration/data-transfer.md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分析、告警和联动预案共用定义结构与节点目录。草稿校验检查类型、端口、表达式和依赖，连续模拟使用正式计算内核，逐条显示输入、状态变化和动作意图。语义评审检查参数、政策和引用的变化，再由有权限人员采用新版本。配图为一分钟平均温度的示例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https://github.com/Sakirina/SmartFactory-2026/blob/v1.1.0/Wiki/user-guide/definitions.md</a:t>
            </a:r>
          </a:p>
          <a:p xmlns:a="http://schemas.openxmlformats.org/drawingml/2006/main">
            <a:r>
              <a:t>https://github.com/Sakirina/SmartFactory-2026/blob/v1.1.0/Wiki/user-guide/history-tasks.md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分析固定输入快照和计算条件。回放采用已发布规则，同输入比较让两个版本共享观测、历史、排序和初始状态，影子候选配对对应的正式结果。任务保留原业务身份与检查点，失败重试继续已经保存的进度。默认原始观测保留 30 天，分钟 90 天、小时 365 天、日汇总及告警 1095 天，可由配置调整。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https://github.com/Sakirina/SmartFactory-2026/blob/v1.1.0/Wiki/user-guide/history-tasks.md</a:t>
            </a:r>
          </a:p>
          <a:p xmlns:a="http://schemas.openxmlformats.org/drawingml/2006/main">
            <a:r>
              <a:t>https://github.com/Sakirina/SmartFactory-2026/blob/v1.1.0/Wiki/user-guide/data.md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即时控制需要工程师和符合组织关系的领导，业务强制增加为两名工程师及一名领导，安全强制还需要指定现场安全员在目标节点二次认证。每人承担一个会签角色。默认会签窗口五分钟，下发后十秒内开始，物理联锁在相应步骤前检查。结果未知时核对原命令和反馈，再恢复剩余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https://github.com/Sakirina/SmartFactory-2026/blob/v1.1.0/Wiki/user-guide/control.md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告警的持续观测版本和人工处置版本分别保存，处置人员根据已阅依据确认或分配责任。工单关联告警与控制执行。交接时提交新的责任人、未完成事项和已经阅读的业务依据，责任更新、交接请求及审计共同保存。配图是独立业务示例中的工单详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https://github.com/Sakirina/SmartFactory-2026/blob/v1.1.0/Wiki/user-guide/business-workbench.md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助手以当前人员身份查询数据和业务对象，工具结果保留实际进入模型的 JSON、来源版本和内容摘要。每次发送建立持久调查，网络断开后可以重新读取。引用在打开时重新检查权限，默认保留七天，过期或失去权限后清除相应内容。MCP 提供相同的读取和草稿应用服务，发布由人员评审完成。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https://github.com/Sakirina/SmartFactory-2026/blob/v1.1.0/Wiki/user-guide/assistant.md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发布清单固定程序、规则、配置及连接器内容，声明平台和数据库兼容条件。独立代理核验工件和目标后管理实际 Edge 进程，协调器根据有效运行报告推进下一批次。失败恢复沿原任务和授权代次继续，程序回退按数据库兼容条件使用配套备份。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https://github.com/Sakirina/SmartFactory-2026/blob/v1.1.0/Wiki/user-guide/node-releases.md</a:t>
            </a:r>
          </a:p>
          <a:p xmlns:a="http://schemas.openxmlformats.org/drawingml/2006/main">
            <a:r>
              <a:t>https://github.com/Sakirina/SmartFactory-2026/blob/v1.1.0/Wiki/operations/backup-restore.md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页面随边缘部署，读取所属节点的观测与业务状态。人员在设备所在现场核对资产、参数、联锁和反馈，并使用有效的离线权限处理已发布规则相关工作。云端与现场各自保存记录，通信恢复后按游标和原请求身份同步核对。配图为 430 像素宽度的移动页面和五场景示例数据。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https://github.com/Sakirina/SmartFactory-2026/blob/v1.1.0/Wiki/user-guide/console.md</a:t>
            </a:r>
          </a:p>
          <a:p xmlns:a="http://schemas.openxmlformats.org/drawingml/2006/main">
            <a:r>
              <a:t>https://github.com/Sakirina/SmartFactory-2026/blob/v1.1.0/Wiki/user-guide/control.md</a:t>
            </a:r>
          </a:p>
          <a:p xmlns:a="http://schemas.openxmlformats.org/drawingml/2006/main">
            <a:r>
              <a:t>https://github.com/Sakirina/SmartFactory-2026/blob/v1.1.0/Wiki/architecture/overview.md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大屏与业务页面使用同一数据和授权，可配置指标及趋势，进一步打开精确数据详情。来源通信、质量、缺口和补传各自表达对应状态。配图为本机五场景示例，示例中的温湿度、气体、AGV 和计数测点展示在同一界面。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https://github.com/Sakirina/SmartFactory-2026/blob/v1.1.0/Wiki/user-guide/dashboards.md</a:t>
            </a:r>
          </a:p>
          <a:p xmlns:a="http://schemas.openxmlformats.org/drawingml/2006/main">
            <a:r>
              <a:t>https://github.com/Sakirina/SmartFactory-2026/blob/v1.1.0/Wiki/user-guide/data.md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SmartFactory 的业务能力围绕原始身份与保存依据组织。消息确认、设备命令、规则计算、人员交接和节点发布分别保存继续处理所需的信息。这样，使用者在重试、恢复或变更后能够查到本次操作沿用了哪一份内容、已经完成哪些工作以及接下来允许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https://github.com/Sakirina/SmartFactory-2026/blob/v1.1.0/Wiki/architecture/overview.md</a:t>
            </a:r>
          </a:p>
          <a:p xmlns:a="http://schemas.openxmlformats.org/drawingml/2006/main">
            <a:r>
              <a:t>https://github.com/Sakirina/SmartFactory-2026/blob/v1.1.0/Wiki/user-guide/control.md</a:t>
            </a:r>
          </a:p>
          <a:p xmlns:a="http://schemas.openxmlformats.org/drawingml/2006/main">
            <a:r>
              <a:t>https://github.com/Sakirina/SmartFactory-2026/blob/v1.1.0/Wiki/user-guide/history-tasks.md</a:t>
            </a:r>
          </a:p>
          <a:p xmlns:a="http://schemas.openxmlformats.org/drawingml/2006/main">
            <a:r>
              <a:t>https://github.com/Sakirina/SmartFactory-2026/blob/v1.1.0/Wiki/user-guide/business-workbench.md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1.1 系列五阶段共 45 项功能验收完成。同一固定前端产物完成 39 项独立浏览器检查，Linux 程序包入口完成 55 项检查，包括实际 PostgreSQL、代理节点、DataTransfer、首次转换、规则配置往返、缓存启动和保留原数据再次启动。协议与原生专项覆盖消息、mTLS、OPC UA、插件和配套恢复。完整 UOS 长时间专项按目标环境另行执行。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https://github.com/Sakirina/SmartFactory-2026/blob/v1.1.0/Wiki/releases/1.1.md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 2026 年 9 月 20 日的 DataTransfer 独立程序历史构建测量。环境为 macOS arm64、10 个逻辑 CPU、Go 1.27.0，200 台 Modbus、200 台 MQTT、100 台 OPC UA 模拟设备，预热 60 秒后持续测量 3600.012743625 秒。输入和保存均为 18654020 条单测点消息，平均每秒 5181.6538797072435 条，最大 RSS 61341696 字节，1000 次控制 p99 18.584 毫秒。测试二进制 SHA-256 为 ace2419e6a30a6ee8cdaee421e3a5f69ff5ca241fc5d8683056d6556578cfd7e。该记录用于后续目标环境对照。</a:t>
            </a:r>
          </a:p>
          <a:p xmlns:a="http://schemas.openxmlformats.org/drawingml/2006/main">
            <a:r>
              <a:t>测量记录：capacity-disk-60m.json，产品白皮书第 11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https://github.com/Sakirina/SmartFactory-2026/blob/v1.1.0/Wiki/releases/1.0.md</a:t>
            </a:r>
          </a:p>
          <a:p xmlns:a="http://schemas.openxmlformats.org/drawingml/2006/main">
            <a:r>
              <a:t>https://github.com/Sakirina/SmartFactory-2026/blob/v1.1.0/docs/evidence/capacity-disk-60m.json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SmartFactory 1.1.0 提供 Linux amd64 程序归档、校验文件、三套前端、源码、契约、脚本和许可。镜像按固定摘要另行准备。产品以 ThingsBoard CE 和 Edge 作为原生平台，项目自有采集与业务能力分别组织。UOS Server V20 x86_64 的完整安装恢复、24 小时断云、受限链路恢复及容量测量仍待在目标环境执行。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https://github.com/Sakirina/SmartFactory-2026/blob/v1.1.0/Wiki/installation.md</a:t>
            </a:r>
          </a:p>
          <a:p xmlns:a="http://schemas.openxmlformats.org/drawingml/2006/main">
            <a:r>
              <a:t>https://github.com/Sakirina/SmartFactory-2026/blob/v1.1.0/Wiki/releases/1.1.md</a:t>
            </a:r>
          </a:p>
          <a:p xmlns:a="http://schemas.openxmlformats.org/drawingml/2006/main">
            <a:r>
              <a:t>https://github.com/Sakirina/SmartFactory-2026/blob/v1.1.0/deploy/licenses/README.md</a:t>
            </a:r>
          </a:p>
          <a:p xmlns:a="http://schemas.openxmlformats.org/drawingml/2006/main">
            <a:r>
              <a:t>https://github.com/Sakirina/SmartFactory-2026/releases/tag/v1.1.0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沿着一次温度异常展开。先在现场核对设备和测点，再打开分析草稿进行模拟及评审，然后查看告警与处理工单，最后由相应账号完成控制审批并核对设备反馈。现场操作遵循演示预案配置和物理联锁。产品安装、人员角色和五场景操作见配套使用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https://github.com/Sakirina/SmartFactory-2026/blob/v1.1.0/Wiki/getting-started.md</a:t>
            </a:r>
          </a:p>
          <a:p xmlns:a="http://schemas.openxmlformats.org/drawingml/2006/main">
            <a:r>
              <a:t>https://github.com/Sakirina/SmartFactory-2026/blob/v1.1.0/Wiki/tutorials/five-scenes.md</a:t>
            </a:r>
          </a:p>
          <a:p xmlns:a="http://schemas.openxmlformats.org/drawingml/2006/main">
            <a:r>
              <a:t>https://github.com/Sakirina/SmartFactory-2026/blob/v1.1.0/Wiki/user-guide/control.md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e6636677740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1ec340fdcd4682" /><Relationship Type="http://schemas.openxmlformats.org/officeDocument/2006/relationships/slideLayout" Target="/ppt/slideLayouts/slideLayout1.xml" Id="R89a82f7b6cee49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a82f7b6cee49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2faf7b3bd4734" /><Relationship Type="http://schemas.openxmlformats.org/officeDocument/2006/relationships/notesSlide" Target="/ppt/notesSlides/notesSlide1.xml" Id="R91a4aa4f9cfa43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67f33ca6c42bb" /><Relationship Type="http://schemas.openxmlformats.org/officeDocument/2006/relationships/image" Target="/ppt/media/image.png" Id="Rb258ef9e53bf49b8" /><Relationship Type="http://schemas.openxmlformats.org/officeDocument/2006/relationships/notesSlide" Target="/ppt/notesSlides/notesSlide2.xml" Id="R481c52e4a7ce46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b0cf2daa483e" /><Relationship Type="http://schemas.openxmlformats.org/officeDocument/2006/relationships/notesSlide" Target="/ppt/notesSlides/notesSlide3.xml" Id="Rfe0f1ecef59649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544d54e814e3f" /><Relationship Type="http://schemas.openxmlformats.org/officeDocument/2006/relationships/notesSlide" Target="/ppt/notesSlides/notesSlide4.xml" Id="R50e34fd6b04f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1a7617d3b4104" /><Relationship Type="http://schemas.openxmlformats.org/officeDocument/2006/relationships/notesSlide" Target="/ppt/notesSlides/notesSlide5.xml" Id="Re68a6f0ac63845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90d78e7f04b26" /><Relationship Type="http://schemas.openxmlformats.org/officeDocument/2006/relationships/image" Target="/ppt/media/image2.png" Id="Rb1be658eb226492d" /><Relationship Type="http://schemas.openxmlformats.org/officeDocument/2006/relationships/notesSlide" Target="/ppt/notesSlides/notesSlide6.xml" Id="R4d152f3af0bb4a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5f5134ef46fd" /><Relationship Type="http://schemas.openxmlformats.org/officeDocument/2006/relationships/notesSlide" Target="/ppt/notesSlides/notesSlide7.xml" Id="Race384a3d49947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a26be31934443" /><Relationship Type="http://schemas.openxmlformats.org/officeDocument/2006/relationships/notesSlide" Target="/ppt/notesSlides/notesSlide8.xml" Id="R5262e1af856a44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fbb2f838642a2" /><Relationship Type="http://schemas.openxmlformats.org/officeDocument/2006/relationships/image" Target="/ppt/media/image3.png" Id="Rb89c9969094b44f9" /><Relationship Type="http://schemas.openxmlformats.org/officeDocument/2006/relationships/notesSlide" Target="/ppt/notesSlides/notesSlide9.xml" Id="R3ffc711532e44f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5ae4cf05b4964" /><Relationship Type="http://schemas.openxmlformats.org/officeDocument/2006/relationships/notesSlide" Target="/ppt/notesSlides/notesSlide10.xml" Id="R9ce70bb58cab47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c281ec2ae419d" /><Relationship Type="http://schemas.openxmlformats.org/officeDocument/2006/relationships/notesSlide" Target="/ppt/notesSlides/notesSlide11.xml" Id="Rd5331ec00cc846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d01cf7f44e4c" /><Relationship Type="http://schemas.openxmlformats.org/officeDocument/2006/relationships/image" Target="/ppt/media/image4.png" Id="Rb7bcf8bdc1b54fa1" /><Relationship Type="http://schemas.openxmlformats.org/officeDocument/2006/relationships/notesSlide" Target="/ppt/notesSlides/notesSlide12.xml" Id="R16c2511572fb4f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c9125ea8e4b1b" /><Relationship Type="http://schemas.openxmlformats.org/officeDocument/2006/relationships/image" Target="/ppt/media/image5.png" Id="R602b7a6bbd494483" /><Relationship Type="http://schemas.openxmlformats.org/officeDocument/2006/relationships/notesSlide" Target="/ppt/notesSlides/notesSlide13.xml" Id="Rf69888d994224c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202f93a584a97" /><Relationship Type="http://schemas.openxmlformats.org/officeDocument/2006/relationships/notesSlide" Target="/ppt/notesSlides/notesSlide14.xml" Id="R9ae87a2c668841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f13464ccc4de0" /><Relationship Type="http://schemas.openxmlformats.org/officeDocument/2006/relationships/notesSlide" Target="/ppt/notesSlides/notesSlide15.xml" Id="R850a015e612945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bddab2ad4c53" /><Relationship Type="http://schemas.openxmlformats.org/officeDocument/2006/relationships/chart" Target="/ppt/slides/charts/chart1.xml" Id="Raf76b030de4147e1" /><Relationship Type="http://schemas.openxmlformats.org/officeDocument/2006/relationships/notesSlide" Target="/ppt/notesSlides/notesSlide16.xml" Id="R99883535071046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2a5a736664d54" /><Relationship Type="http://schemas.openxmlformats.org/officeDocument/2006/relationships/notesSlide" Target="/ppt/notesSlides/notesSlide17.xml" Id="Ref1d6462882741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9b60783c94ea9" /><Relationship Type="http://schemas.openxmlformats.org/officeDocument/2006/relationships/notesSlide" Target="/ppt/notesSlides/notesSlide18.xml" Id="R1514b981d75643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单测点消息每秒</c:v>
          </c:tx>
          <c:spPr>
            <a:solidFill xmlns:a="http://schemas.openxmlformats.org/drawingml/2006/main">
              <a:srgbClr val="147D7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>
                        <a:latin typeface="Heiti SC"/>
                        <a:ea typeface="Heiti SC"/>
                        <a:cs typeface="Heiti SC"/>
                      </a:rPr>
                      <a:t>5000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>
                      <a:latin typeface="Heiti SC"/>
                      <a:ea typeface="Heiti SC"/>
                      <a:cs typeface="Hei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>
                        <a:latin typeface="Heiti SC"/>
                        <a:ea typeface="Heiti SC"/>
                        <a:cs typeface="Heiti SC"/>
                      </a:rPr>
                      <a:t>5181.65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>
                      <a:latin typeface="Heiti SC"/>
                      <a:ea typeface="Heiti SC"/>
                      <a:cs typeface="Heiti S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需求值</c:v>
                </c:pt>
                <c:pt idx="1">
                  <c:v>测量值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5000</c:v>
                </c:pt>
                <c:pt idx="1">
                  <c:v>5181.65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65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2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92272-E806-4C05-BF97-60A3B945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39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66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SmartFactory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E558F-1438-4CBF-B492-FD3E0A46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71800"/>
            <a:ext cx="1070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600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工业现场数据与业务协作平台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FA169-6598-4C07-849E-815BE4A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102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FCAC4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9FCAC4"/>
                </a:solidFill>
                <a:latin typeface="Heiti SC"/>
                <a:ea typeface="Heiti SC"/>
                <a:cs typeface="Heiti SC"/>
              </a:rPr>
              <a:t>产品版本 1.1.0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09940-7A36-474B-A811-FE1723AD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055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0E1E3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D0E1E3"/>
                </a:solidFill>
                <a:latin typeface="Heiti SC"/>
                <a:ea typeface="Heiti SC"/>
                <a:cs typeface="Heiti SC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213266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10266-723D-4DA1-909B-D0A40A68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设备观测与现场工作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DDA53-C8A0-44DE-BB6C-59C33592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7FAFA-CFA4-4988-9D22-DE98546B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4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统一设备与业务记录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4B81E-342A-4084-98C4-085ACD14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0100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工程师查看规则和历史数据，现场人员核对设备及反馈，管理人员追踪异常和责任。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4CACD-BC2B-42D4-AF13-68C122B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0290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同一次观测，可以继续追踪到告警、执行和工单。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8ef9e53bf49b8"/>
          <a:stretch xmlns:a="http://schemas.openxmlformats.org/drawingml/2006/main"/>
        </p:blipFill>
        <p:spPr>
          <a:xfrm xmlns:a="http://schemas.openxmlformats.org/drawingml/2006/main">
            <a:off x="4933950" y="156210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4D9C7-9B22-4C19-A2B0-56ABA15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962650"/>
            <a:ext cx="649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云端运行概览  示例数据</a:t>
            </a:r>
          </a:p>
        </p:txBody>
      </p:sp>
    </p:spTree>
    <p:extLst>
      <p:ext uri="{BB962C8B-B14F-4D97-AF65-F5344CB8AC3E}">
        <p14:creationId xmlns:p14="http://schemas.microsoft.com/office/powerpoint/2010/main" val="1777422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69BC2-90D6-4ADD-89E1-412A178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五类工厂场景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054C1-88CB-4292-8903-A07E08D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410075"/>
                <a:gridCol w="4371975"/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场景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观测与判断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现场结果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温湿度与通风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温度、湿度、上下限与回差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告警与环境调节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红外照明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人员存在和延时状态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有人点亮，无人延时关闭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危气监测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烟雾、可燃气体、一氧化碳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异常告警与排风预案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AGV 避障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距离、质量与物理联锁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障碍停车和条件恢复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货物计数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脉冲事件与稳定事件身份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有效累计计数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FADF9-A2E1-4587-9048-9781027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01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每个场景保留设备、参数、规则版本和实际处理记录。</a:t>
            </a:r>
          </a:p>
        </p:txBody>
      </p:sp>
    </p:spTree>
    <p:extLst>
      <p:ext uri="{BB962C8B-B14F-4D97-AF65-F5344CB8AC3E}">
        <p14:creationId xmlns:p14="http://schemas.microsoft.com/office/powerpoint/2010/main" val="2016742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9D8EE-9951-4456-97C1-746BF644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云端与现场的系统架构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B2772-F7DA-4DF5-BD07-32E19B3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105275"/>
                <a:gridCol w="5153025"/>
              </a:tblGrid>
              <a:tr h="7353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位置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主要程序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职责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设备采集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DataTransfer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协议读取、统一观测、命令结果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边缘现场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sf-edge、ThingsBoard Edge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现场规则、控制、存储与离线授权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云端平台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sf-cloud、ThingsBoard CE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全厂查询、人员、业务处置与发布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配置与更新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sf-config、发布代理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固定配置、身份核验与逐批运行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2BBB4-5511-4938-A1DE-7950326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云边通过 mTLS 认证节点，并按持久身份、确认和游标同步。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2699F-3E5E-4756-9ADE-4343637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多节点现场使用 NATS 三副本维护执行权和签名检查点。</a:t>
            </a:r>
          </a:p>
        </p:txBody>
      </p:sp>
    </p:spTree>
    <p:extLst>
      <p:ext uri="{BB962C8B-B14F-4D97-AF65-F5344CB8AC3E}">
        <p14:creationId xmlns:p14="http://schemas.microsoft.com/office/powerpoint/2010/main" val="1939838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C18AB-AF3F-499E-A75B-425D1A46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设备接入与数据质量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474A1-3B94-4656-AE41-14A4C77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8553450"/>
              </a:tblGrid>
              <a:tr h="723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协议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提供的采集与操作能力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Modbus TCP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寄存器、位字段、字节顺序、转换与反向编码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MQTT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主题与载荷映射、状态或事件采集、命令发送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OPC UA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读取、订阅、方法调用、签名加密与证书配置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1AF89-672D-47E4-AFE1-9F8DEE7F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5067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观测保留精确值与来源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F3364-FBCE-463B-AADA-0AD2DAA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504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表格、工具提示和导出保留原值，查询同时展示质量与缺口。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D9B10-8A17-4F7C-93E4-ED328D3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5019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设备与配置具有独立版本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EBCCD-AE03-4C94-9921-650DC109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5000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保存、投递和实际采用分别留下记录，冲突时继续核对已阅版本。</a:t>
            </a:r>
          </a:p>
        </p:txBody>
      </p:sp>
    </p:spTree>
    <p:extLst>
      <p:ext uri="{BB962C8B-B14F-4D97-AF65-F5344CB8AC3E}">
        <p14:creationId xmlns:p14="http://schemas.microsoft.com/office/powerpoint/2010/main" val="729699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AF874-6ADC-4E31-969A-A8B1A371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规则编排与连续模拟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10A43-E168-4FE5-81F6-E42F2115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e658eb226492d"/>
          <a:stretch xmlns:a="http://schemas.openxmlformats.org/drawingml/2006/main"/>
        </p:blipFill>
        <p:spPr>
          <a:xfrm xmlns:a="http://schemas.openxmlformats.org/drawingml/2006/main">
            <a:off x="661269" y="1333500"/>
            <a:ext cx="8764438" cy="483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91EB6-BCC5-4D4D-8F56-DF86F470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19275"/>
            <a:ext cx="1743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草稿修订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CEA5F-44E3-4AFD-B8C6-8B4ECE8F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17335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节点与参数</a:t>
            </a:r>
          </a:p>
          <a:p xmlns:a="http://schemas.openxmlformats.org/drawingml/2006/main">
            <a:pPr>
              <a:defRPr sz="19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类型与依赖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9C0F5-BB20-4634-B3C7-B3E454C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43325"/>
            <a:ext cx="1733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1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逐点模拟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83A45-FFFB-43BA-9BE3-827F61D4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48175"/>
            <a:ext cx="1733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状态变化</a:t>
            </a:r>
          </a:p>
          <a:p xmlns:a="http://schemas.openxmlformats.org/drawingml/2006/main">
            <a:pPr>
              <a:defRPr sz="19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动作意图</a:t>
            </a:r>
          </a:p>
          <a:p xmlns:a="http://schemas.openxmlformats.org/drawingml/2006/main">
            <a:pPr>
              <a:defRPr sz="19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语义差异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86AAB-9118-4DA7-91B8-D73B4F50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734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模拟保存输入、历史、资产版本和计划摘要，可导出复现文件。</a:t>
            </a:r>
          </a:p>
        </p:txBody>
      </p:sp>
    </p:spTree>
    <p:extLst>
      <p:ext uri="{BB962C8B-B14F-4D97-AF65-F5344CB8AC3E}">
        <p14:creationId xmlns:p14="http://schemas.microsoft.com/office/powerpoint/2010/main" val="351449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C246C-47D7-4EF8-9D49-8A885AF7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历史回放与版本比较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46F3E-543A-4EFA-A6F2-874EFFF3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086225"/>
                <a:gridCol w="4791075"/>
              </a:tblGrid>
              <a:tr h="7191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分析方式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固定条件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使用者查看的结果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历史回放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已发布规则与输入快照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逐点结果、节点解释和修订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版本比较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同一输入、历史和初始状态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两个规则版本的结果差异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影子候选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候选规则与对应正式来源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候选与正式结果的配对变化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0E166-7234-4EFC-817F-7845BF2A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任务沿原身份与检查点继续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38A3E-A72D-4103-ADFA-12418E7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8299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已提交结果、阶段和游标持久保存；重试继续原任务，取消处理后续计算。</a:t>
            </a:r>
          </a:p>
        </p:txBody>
      </p:sp>
    </p:spTree>
    <p:extLst>
      <p:ext uri="{BB962C8B-B14F-4D97-AF65-F5344CB8AC3E}">
        <p14:creationId xmlns:p14="http://schemas.microsoft.com/office/powerpoint/2010/main" val="787439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6D6AF-B70E-473C-B128-CD501CBA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控制审批与设备反馈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902C9-00CC-4E77-BCFC-D0BF1CE1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8172450"/>
              </a:tblGrid>
              <a:tr h="7286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请求类别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默认条件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普通即时控制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一名工程师及一名符合组织关系的领导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业务强制执行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两名工程师及一名符合组织关系的领导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安全强制执行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上述会签，加指定安全员在目标现场二次认证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8E920-7B0B-4768-A6C4-37E7BFF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26003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5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7A17A-5C63-418E-8DE7-63A78A77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72125"/>
            <a:ext cx="2647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默认会签窗口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266D8-1296-4F0C-81C7-4C8B0BE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01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10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56EF1-8E42-45D4-BEE2-A7246E7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72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下发后的启动期限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50C86-00D5-4C4E-B80A-3BE6BE75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24425"/>
            <a:ext cx="3724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32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原命令与实际反馈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3B48B-D48C-49B7-81DE-196CBC0C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629275"/>
            <a:ext cx="37242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核对结果后恢复剩余步骤</a:t>
            </a:r>
          </a:p>
        </p:txBody>
      </p:sp>
    </p:spTree>
    <p:extLst>
      <p:ext uri="{BB962C8B-B14F-4D97-AF65-F5344CB8AC3E}">
        <p14:creationId xmlns:p14="http://schemas.microsoft.com/office/powerpoint/2010/main" val="1544760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F9267-E730-4B60-B9B3-A0A7503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告警处置与工单交接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DF4DE-94BC-4A4F-AF43-BBB6DB8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806D8-B78D-4FC2-9C3E-16B8331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4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责任与依据一同保存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C2BFA-C82A-4728-8FFB-CA927A7D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3848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告警记录异常周期，工单记录后续处理和责任归属。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6F997-FB77-4F20-8B7C-8F49839B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38481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交接保留未完成事项、已阅依据和责任变化，人员按当前状态继续操作。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c9969094b44f9"/>
          <a:stretch xmlns:a="http://schemas.openxmlformats.org/drawingml/2006/main"/>
        </p:blipFill>
        <p:spPr>
          <a:xfrm xmlns:a="http://schemas.openxmlformats.org/drawingml/2006/main">
            <a:off x="4752975" y="2256306"/>
            <a:ext cx="6829425" cy="310738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C8319-2E45-4836-9DC8-BCD59F3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67425"/>
            <a:ext cx="665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工单详情与处理记录  示例数据</a:t>
            </a:r>
          </a:p>
        </p:txBody>
      </p:sp>
    </p:spTree>
    <p:extLst>
      <p:ext uri="{BB962C8B-B14F-4D97-AF65-F5344CB8AC3E}">
        <p14:creationId xmlns:p14="http://schemas.microsoft.com/office/powerpoint/2010/main" val="660895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A60D3-FB7E-4ED6-8F45-19A26A2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AI 调查与可查看的依据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92E50-D9EE-44F4-8078-3E752CE2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0AC54-809A-4382-9DFC-1FFCD9B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查询围绕实际业务对象展开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7D442-809F-41E9-892E-FC80B698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106394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设备与观测、规则与草稿、控制执行、历史结果均可作为工具资料。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67665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6200"/>
                <a:gridCol w="7086600"/>
              </a:tblGrid>
              <a:tr h="5500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使用者看到的内容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平台保存的依据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调查回答与引用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实际工具 JSON、资源版本与内容摘要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调用状态与失败原因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调查身份、时间、预算和终止状态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草稿修改与模拟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草稿修订、校验结果和语义差异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848DA-56C9-4A21-A322-FA000B7C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53150"/>
            <a:ext cx="1065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MCP 复用人员资源许可，规则调整继续经过页面评审。</a:t>
            </a:r>
          </a:p>
        </p:txBody>
      </p:sp>
    </p:spTree>
    <p:extLst>
      <p:ext uri="{BB962C8B-B14F-4D97-AF65-F5344CB8AC3E}">
        <p14:creationId xmlns:p14="http://schemas.microsoft.com/office/powerpoint/2010/main" val="12758216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7C7D9-8934-446A-8289-F37D65C0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固定发布与逐批运行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C4A50-CF29-45B2-90D5-C50B0F35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448675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发布对象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固定内容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程序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应用版本、平台、文件摘要和兼容声明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规则与参数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来源版本、内容摘要及节点实际采用版本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节点身份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工作负载类型、凭据代次、节点归属和授权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批次报告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准备结果、实际进程、运行摘要与失败原因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D80EA-AFD1-4368-8DAA-2244BF7A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7727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先核验并启动当前批次，取得有效运行报告后继续下一批次。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6648B-B5DF-4307-BC7B-DD840CFC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753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切换保留原数据库与主密钥，失败处理继续记录原因和当前允许操作。</a:t>
            </a:r>
          </a:p>
        </p:txBody>
      </p:sp>
    </p:spTree>
    <p:extLst>
      <p:ext uri="{BB962C8B-B14F-4D97-AF65-F5344CB8AC3E}">
        <p14:creationId xmlns:p14="http://schemas.microsoft.com/office/powerpoint/2010/main" val="1545874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898E1-92E5-4BCB-B7AE-D813336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现场工作台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DA07E-7317-45FB-B571-778DE969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cf8bdc1b54fa1"/>
          <a:stretch xmlns:a="http://schemas.openxmlformats.org/drawingml/2006/main"/>
        </p:blipFill>
        <p:spPr>
          <a:xfrm xmlns:a="http://schemas.openxmlformats.org/drawingml/2006/main">
            <a:off x="1066800" y="1366505"/>
            <a:ext cx="2362200" cy="494414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EA465-5C97-49A9-BDCA-BC991A1A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62125"/>
            <a:ext cx="7115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70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在设备现场核对与操作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D8DE4-51D8-48F3-BE1A-2871CEB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86075"/>
            <a:ext cx="700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设备批准、数据监控、控制确认与结果反馈共用现场业务记录。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F2DF9-1F5A-4DD3-B607-AA40A261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7000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通信暂时中断时，现场继续使用已发布规则和有效权限，随后按保存的身份与游标核对。</a:t>
            </a:r>
          </a:p>
        </p:txBody>
      </p:sp>
    </p:spTree>
    <p:extLst>
      <p:ext uri="{BB962C8B-B14F-4D97-AF65-F5344CB8AC3E}">
        <p14:creationId xmlns:p14="http://schemas.microsoft.com/office/powerpoint/2010/main" val="97449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935B8-9824-4867-AB84-6DB201D6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管理大屏与来源状态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FBEE6-DE70-443D-9F0C-5821256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2C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A6C2CA"/>
                </a:solidFill>
                <a:latin typeface="Heiti SC"/>
                <a:ea typeface="Heiti SC"/>
                <a:cs typeface="Heiti SC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b7a6bbd494483"/>
          <a:stretch xmlns:a="http://schemas.openxmlformats.org/drawingml/2006/main"/>
        </p:blipFill>
        <p:spPr>
          <a:xfrm xmlns:a="http://schemas.openxmlformats.org/drawingml/2006/main">
            <a:off x="2362200" y="1333500"/>
            <a:ext cx="746760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E01BA-8108-40E5-8F3F-C03C043C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734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0E1E3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D0E1E3"/>
                </a:solidFill>
                <a:latin typeface="Heiti SC"/>
                <a:ea typeface="Heiti SC"/>
                <a:cs typeface="Heiti SC"/>
              </a:rPr>
              <a:t>指标与趋势可继续查看精确值、质量、来源和修订记录。</a:t>
            </a:r>
          </a:p>
        </p:txBody>
      </p:sp>
    </p:spTree>
    <p:extLst>
      <p:ext uri="{BB962C8B-B14F-4D97-AF65-F5344CB8AC3E}">
        <p14:creationId xmlns:p14="http://schemas.microsoft.com/office/powerpoint/2010/main" val="12445519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8F5D2-0349-4541-8460-B90309BE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可追踪的业务记录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E5064-68B7-4F7B-9DFC-0B180A9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419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438650"/>
                <a:gridCol w="4581525"/>
              </a:tblGrid>
              <a:tr h="736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业务对象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保留的依据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恢复或变更后的处理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观测与消息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身份、质量、来源和提交游标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确认、重投与去重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控制执行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原命令、动作日志和设备反馈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核对原结果，恢复剩余步骤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规则与计算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规则版本、资产版本和输入快照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回放、比较和历史修订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工单交接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责任人、未完成事项和已阅版本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按当前状态继续处理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节点发布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固定内容、批次和运行报告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按报告推进，沿原任务恢复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316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D6B40-7DDA-457F-B972-A668022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1.1 系列功能验证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0A470-62E4-4CBB-AF79-A537863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97C0E-9CB4-40CA-9080-676C7A60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742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1B4BC-E164-4797-B95B-F81D1D48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项功能验收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BC8E9-C0BC-4755-B0AC-5CB46F0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5765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五阶段业务能力</a:t>
            </a:r>
          </a:p>
          <a:p xmlns:a="http://schemas.openxmlformats.org/drawingml/2006/main">
            <a:pPr>
              <a:defRPr sz="19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规则、控制、业务与发布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188B-BD15-4FDC-8300-8E51F3F3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478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742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BF1E7-885D-4B16-A071-48A9832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90875"/>
            <a:ext cx="3248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项浏览器检查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8728C-545F-4737-98DC-F362800F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57650"/>
            <a:ext cx="32480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同一固定前端产物</a:t>
            </a:r>
          </a:p>
          <a:p xmlns:a="http://schemas.openxmlformats.org/drawingml/2006/main">
            <a:pPr>
              <a:defRPr sz="195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实际页面操作与权限变化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43F93-8C99-47FB-BBD5-E3EDBC59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47850"/>
            <a:ext cx="2895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42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742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DA998-F633-4A63-9657-EFC4C2FE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90875"/>
            <a:ext cx="2914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项 Linux 包入口检查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EF69F-8DBD-4842-9D39-BC49E665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22910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独立数据库与程序</a:t>
            </a:r>
          </a:p>
          <a:p xmlns:a="http://schemas.openxmlformats.org/drawingml/2006/main">
            <a:pPr>
              <a:defRPr sz="1875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缓存启动与保留数据重启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9FDA9-5593-4E4F-BA23-389300A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06584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协议、数据库、消息故障与原生恢复分别记录测试环境和受测输入。</a:t>
            </a:r>
          </a:p>
        </p:txBody>
      </p:sp>
    </p:spTree>
    <p:extLst>
      <p:ext uri="{BB962C8B-B14F-4D97-AF65-F5344CB8AC3E}">
        <p14:creationId xmlns:p14="http://schemas.microsoft.com/office/powerpoint/2010/main" val="1295389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F92C4-1581-4E90-A749-1FD39BF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设备采集性能基线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4C03C-10B4-44E4-BEB9-A5C5F5C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34134-0F20-4BC7-BE9E-269044B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500 台模拟设备，持续 60 分钟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2505075"/>
          <a:ext xmlns:a="http://schemas.openxmlformats.org/drawingml/2006/main" cx="675322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76b030de4147e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887B-4453-456C-99BD-A7681180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43125"/>
            <a:ext cx="6677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80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条单测点消息／秒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69561-0AE6-4754-9122-20EE915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76475"/>
            <a:ext cx="3562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36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58.50 MiB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B439-79E9-4EDD-BB20-EA0468E2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14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采集进程最大 RSS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5453E-0EF0-473C-8B2C-E207D26C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76700"/>
            <a:ext cx="3562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3675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18.584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323C3-71C4-421D-B845-F985B88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1,000 次控制的 p99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051B8-DE5C-4C52-9FFA-52DBCE6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累计输入与保存均为 18,654,020 条消息。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E983C-88F6-435A-8232-EDF08D5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55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626C"/>
                </a:solidFill>
                <a:latin typeface="Heiti SC"/>
                <a:ea typeface="Heiti SC"/>
                <a:cs typeface="Heiti SC"/>
              </a:defRPr>
            </a:pPr>
            <a:r>
              <a:rPr sz="1725" b="0">
                <a:solidFill>
                  <a:srgbClr val="4C626C"/>
                </a:solidFill>
                <a:latin typeface="Heiti SC"/>
                <a:ea typeface="Heiti SC"/>
                <a:cs typeface="Heiti SC"/>
              </a:rPr>
              <a:t>2026-09-20  macOS arm64  独立采集程序历史构建</a:t>
            </a:r>
          </a:p>
        </p:txBody>
      </p:sp>
    </p:spTree>
    <p:extLst>
      <p:ext uri="{BB962C8B-B14F-4D97-AF65-F5344CB8AC3E}">
        <p14:creationId xmlns:p14="http://schemas.microsoft.com/office/powerpoint/2010/main" val="11818502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7BF26-6568-4766-8622-410BB719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部署交付与开源组件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93AEE-4418-4C08-BBB7-B27ACD7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1929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81929A"/>
                </a:solidFill>
                <a:latin typeface="Heiti SC"/>
                <a:ea typeface="Heiti SC"/>
                <a:cs typeface="Heiti S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8382000"/>
              </a:tblGrid>
              <a:tr h="67818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交付部分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内容</a:t>
                      </a:r>
                    </a:p>
                  </a:txBody>
                  <a:tcPr marL="161925" marR="161925" marT="114300" marB="114300" anchor="ctr">
                    <a:solidFill>
                      <a:srgbClr val="173D4A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程序与页面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Linux amd64，云端、现场和大屏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运行组件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ThingsBoard CE / Edge 4.3.1.6 系列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数据库与消息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PostgreSQL 18.6、Kafka 4.3.1、NATS 2.14.7</a:t>
                      </a:r>
                    </a:p>
                  </a:txBody>
                  <a:tcPr marL="161925" marR="161925" marT="114300" marB="114300" anchor="ctr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维护资料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C3C"/>
                          </a:solidFill>
                          <a:latin typeface="Heiti SC"/>
                          <a:ea typeface="Heiti SC"/>
                          <a:cs typeface="Heiti SC"/>
                        </a:rPr>
                        <a:t>源码、API 契约、部署脚本、Wiki、组件与许可</a:t>
                      </a:r>
                    </a:p>
                  </a:txBody>
                  <a:tcPr marL="161925" marR="161925" marT="114300" marB="114300" anchor="ctr"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02B6-9BB1-48D0-BB45-EAB68C4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86375"/>
            <a:ext cx="1058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7D73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147D73"/>
                </a:solidFill>
                <a:latin typeface="Heiti SC"/>
                <a:ea typeface="Heiti SC"/>
                <a:cs typeface="Heiti SC"/>
              </a:rPr>
              <a:t>目标环境专项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BDCED-C723-4114-A002-29501D0D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150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C3C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102C3C"/>
                </a:solidFill>
                <a:latin typeface="Heiti SC"/>
                <a:ea typeface="Heiti SC"/>
                <a:cs typeface="Heiti SC"/>
              </a:rPr>
              <a:t>UOS 完整安装恢复、24 小时断云、受限链路恢复与容量测量，待目标环境执行。</a:t>
            </a:r>
          </a:p>
        </p:txBody>
      </p:sp>
    </p:spTree>
    <p:extLst>
      <p:ext uri="{BB962C8B-B14F-4D97-AF65-F5344CB8AC3E}">
        <p14:creationId xmlns:p14="http://schemas.microsoft.com/office/powerpoint/2010/main" val="8360861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A343B-F5C0-4C7E-BCB9-2203CEB9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34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温湿度场景演示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FF6F0-8FE7-4068-8FC5-0D2A6EB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6C2CA"/>
                </a:solidFill>
                <a:latin typeface="Heiti SC"/>
                <a:ea typeface="Heiti SC"/>
                <a:cs typeface="Heiti SC"/>
              </a:defRPr>
            </a:pPr>
            <a:r>
              <a:rPr sz="1200" b="0">
                <a:solidFill>
                  <a:srgbClr val="A6C2CA"/>
                </a:solidFill>
                <a:latin typeface="Heiti SC"/>
                <a:ea typeface="Heiti SC"/>
                <a:cs typeface="Heiti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3CC8F-2E1E-41F7-A657-E3F7098D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14475"/>
            <a:ext cx="54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FD0C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8FD0C6"/>
                </a:solidFill>
                <a:latin typeface="Heiti SC"/>
                <a:ea typeface="Heiti SC"/>
                <a:cs typeface="Heiti S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F0B55-283B-4F81-A669-E4C1811A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524000"/>
            <a:ext cx="3781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设备与观测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048D2-17B2-4D38-92EA-A9F60A1D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90675"/>
            <a:ext cx="60293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E5E8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D5E5E8"/>
                </a:solidFill>
                <a:latin typeface="Heiti SC"/>
                <a:ea typeface="Heiti SC"/>
                <a:cs typeface="Heiti SC"/>
              </a:rPr>
              <a:t>核对设备、协议、采样时间和数据质量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C91C9-073B-42C3-92EE-9C1B32DB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95575"/>
            <a:ext cx="54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FD0C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8FD0C6"/>
                </a:solidFill>
                <a:latin typeface="Heiti SC"/>
                <a:ea typeface="Heiti SC"/>
                <a:cs typeface="Heiti S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816CC-B4D5-4AC1-BEC0-0086ABF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05100"/>
            <a:ext cx="3781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规则与模拟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14AD0-8D3F-474C-B912-516C469B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71775"/>
            <a:ext cx="60293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E5E8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D5E5E8"/>
                </a:solidFill>
                <a:latin typeface="Heiti SC"/>
                <a:ea typeface="Heiti SC"/>
                <a:cs typeface="Heiti SC"/>
              </a:rPr>
              <a:t>运行连续样本，检查节点解释与版本差异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A7077-F37A-4644-AFCF-897419F0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54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FD0C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8FD0C6"/>
                </a:solidFill>
                <a:latin typeface="Heiti SC"/>
                <a:ea typeface="Heiti SC"/>
                <a:cs typeface="Heiti SC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CFE58-B6C7-49FF-B0E3-180C0453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86200"/>
            <a:ext cx="3781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告警与工单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EC384-9BC1-4065-9157-859AB195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52875"/>
            <a:ext cx="60293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E5E8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D5E5E8"/>
                </a:solidFill>
                <a:latin typeface="Heiti SC"/>
                <a:ea typeface="Heiti SC"/>
                <a:cs typeface="Heiti SC"/>
              </a:rPr>
              <a:t>确认异常，记录责任人与现场处理事项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D865D-1124-423E-A3F5-ED9FB06E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57775"/>
            <a:ext cx="54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FD0C6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8FD0C6"/>
                </a:solidFill>
                <a:latin typeface="Heiti SC"/>
                <a:ea typeface="Heiti SC"/>
                <a:cs typeface="Heiti SC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4118B-E34F-456B-9EFE-21DAC64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067300"/>
            <a:ext cx="3781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控制与反馈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21102-F5EC-4839-BBF3-184894B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33975"/>
            <a:ext cx="60293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E5E8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D5E5E8"/>
                </a:solidFill>
                <a:latin typeface="Heiti SC"/>
                <a:ea typeface="Heiti SC"/>
                <a:cs typeface="Heiti SC"/>
              </a:rPr>
              <a:t>完成相应审批，核对原命令及设备反馈</a:t>
            </a:r>
          </a:p>
        </p:txBody>
      </p:sp>
    </p:spTree>
    <p:extLst>
      <p:ext uri="{BB962C8B-B14F-4D97-AF65-F5344CB8AC3E}">
        <p14:creationId xmlns:p14="http://schemas.microsoft.com/office/powerpoint/2010/main" val="1752279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SmartFactory</dc:creator>
  <lastModifiedBy>Walnut Exporter</lastModifiedBy>
  <dc:title>Presentation</dc:title>
  <dcterms:created xsi:type="dcterms:W3CDTF">2026-10-07T10:17:10.0080000Z</dcterms:created>
  <dcterms:modified xsi:type="dcterms:W3CDTF">2026-10-07T10:17:10.0080000Z</dcterms:modified>
</coreProperties>
</file>