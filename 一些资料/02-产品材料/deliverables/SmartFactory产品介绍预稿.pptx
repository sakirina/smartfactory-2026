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1a4b58c6d4a42" /><Relationship Type="http://schemas.openxmlformats.org/officeDocument/2006/relationships/extended-properties" Target="/docProps/app.xml" Id="R82e3828661794fb1" /><Relationship Type="http://schemas.openxmlformats.org/officeDocument/2006/relationships/officeDocument" Target="/ppt/presentation.xml" Id="Rd3d295807d30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2e1f098cf47eb"/>
  </p:sldMasterIdLst>
  <p:notesMasterIdLst>
    <p:notesMasterId xmlns:r="http://schemas.openxmlformats.org/officeDocument/2006/relationships" r:id="Rcfbf860fc8764995"/>
  </p:notesMasterIdLst>
  <p:sldIdLst>
    <p:sldId xmlns:r="http://schemas.openxmlformats.org/officeDocument/2006/relationships" id="256" r:id="Rbe05883b9cae432a"/>
    <p:sldId xmlns:r="http://schemas.openxmlformats.org/officeDocument/2006/relationships" id="257" r:id="Re699518057904ff7"/>
    <p:sldId xmlns:r="http://schemas.openxmlformats.org/officeDocument/2006/relationships" id="258" r:id="Rdf1e0b657c7b44c1"/>
    <p:sldId xmlns:r="http://schemas.openxmlformats.org/officeDocument/2006/relationships" id="259" r:id="R2242ac8f37134add"/>
    <p:sldId xmlns:r="http://schemas.openxmlformats.org/officeDocument/2006/relationships" id="260" r:id="Rab1d314eddef4268"/>
    <p:sldId xmlns:r="http://schemas.openxmlformats.org/officeDocument/2006/relationships" id="261" r:id="Rbf7e4aa907964514"/>
    <p:sldId xmlns:r="http://schemas.openxmlformats.org/officeDocument/2006/relationships" id="262" r:id="R010803ec8ad84df3"/>
    <p:sldId xmlns:r="http://schemas.openxmlformats.org/officeDocument/2006/relationships" id="263" r:id="R19a4b0a85cb64a46"/>
    <p:sldId xmlns:r="http://schemas.openxmlformats.org/officeDocument/2006/relationships" id="264" r:id="R9ab8391a922d4b34"/>
    <p:sldId xmlns:r="http://schemas.openxmlformats.org/officeDocument/2006/relationships" id="265" r:id="Re15781cfcfca4e74"/>
    <p:sldId xmlns:r="http://schemas.openxmlformats.org/officeDocument/2006/relationships" id="266" r:id="R237081b0b5ff43e1"/>
    <p:sldId xmlns:r="http://schemas.openxmlformats.org/officeDocument/2006/relationships" id="267" r:id="R09e10d05a5e24733"/>
    <p:sldId xmlns:r="http://schemas.openxmlformats.org/officeDocument/2006/relationships" id="268" r:id="R4747d74f34314452"/>
    <p:sldId xmlns:r="http://schemas.openxmlformats.org/officeDocument/2006/relationships" id="269" r:id="R6e7e9c9e65b441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166570b4064d91" /><Relationship Type="http://schemas.openxmlformats.org/officeDocument/2006/relationships/slideMaster" Target="/ppt/slideMasters/slideMaster1.xml" Id="R5e52e1f098cf47eb" /><Relationship Type="http://schemas.openxmlformats.org/officeDocument/2006/relationships/notesMaster" Target="/ppt/notesMasters/notesMaster1.xml" Id="Rcfbf860fc8764995" /><Relationship Type="http://schemas.openxmlformats.org/officeDocument/2006/relationships/presProps" Target="/ppt/presProps.xml" Id="Rf6b346a603c74850" /><Relationship Type="http://schemas.openxmlformats.org/officeDocument/2006/relationships/tableStyles" Target="/ppt/tableStyles.xml" Id="Rd8a018ebfb03433a" /><Relationship Type="http://schemas.openxmlformats.org/officeDocument/2006/relationships/slide" Target="/ppt/slides/slide1.xml" Id="Rbe05883b9cae432a" /><Relationship Type="http://schemas.openxmlformats.org/officeDocument/2006/relationships/slide" Target="/ppt/slides/slide2.xml" Id="Re699518057904ff7" /><Relationship Type="http://schemas.openxmlformats.org/officeDocument/2006/relationships/slide" Target="/ppt/slides/slide3.xml" Id="Rdf1e0b657c7b44c1" /><Relationship Type="http://schemas.openxmlformats.org/officeDocument/2006/relationships/slide" Target="/ppt/slides/slide4.xml" Id="R2242ac8f37134add" /><Relationship Type="http://schemas.openxmlformats.org/officeDocument/2006/relationships/slide" Target="/ppt/slides/slide5.xml" Id="Rab1d314eddef4268" /><Relationship Type="http://schemas.openxmlformats.org/officeDocument/2006/relationships/slide" Target="/ppt/slides/slide6.xml" Id="Rbf7e4aa907964514" /><Relationship Type="http://schemas.openxmlformats.org/officeDocument/2006/relationships/slide" Target="/ppt/slides/slide7.xml" Id="R010803ec8ad84df3" /><Relationship Type="http://schemas.openxmlformats.org/officeDocument/2006/relationships/slide" Target="/ppt/slides/slide8.xml" Id="R19a4b0a85cb64a46" /><Relationship Type="http://schemas.openxmlformats.org/officeDocument/2006/relationships/slide" Target="/ppt/slides/slide9.xml" Id="R9ab8391a922d4b34" /><Relationship Type="http://schemas.openxmlformats.org/officeDocument/2006/relationships/slide" Target="/ppt/slides/slide10.xml" Id="Re15781cfcfca4e74" /><Relationship Type="http://schemas.openxmlformats.org/officeDocument/2006/relationships/slide" Target="/ppt/slides/slide11.xml" Id="R237081b0b5ff43e1" /><Relationship Type="http://schemas.openxmlformats.org/officeDocument/2006/relationships/slide" Target="/ppt/slides/slide12.xml" Id="R09e10d05a5e24733" /><Relationship Type="http://schemas.openxmlformats.org/officeDocument/2006/relationships/slide" Target="/ppt/slides/slide13.xml" Id="R4747d74f34314452" /><Relationship Type="http://schemas.openxmlformats.org/officeDocument/2006/relationships/slide" Target="/ppt/slides/slide14.xml" Id="R6e7e9c9e65b4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4dd6d3510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f052fa43d341f5" /><Relationship Type="http://schemas.openxmlformats.org/officeDocument/2006/relationships/notesMaster" Target="/ppt/notesMasters/notesMaster1.xml" Id="R86833d0c0fbd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2461800cf047c9" /><Relationship Type="http://schemas.openxmlformats.org/officeDocument/2006/relationships/notesMaster" Target="/ppt/notesMasters/notesMaster1.xml" Id="Raf1269045319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289dbbd514f33" /><Relationship Type="http://schemas.openxmlformats.org/officeDocument/2006/relationships/notesMaster" Target="/ppt/notesMasters/notesMaster1.xml" Id="Ra5b54cc936004c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279c66ecb4dea" /><Relationship Type="http://schemas.openxmlformats.org/officeDocument/2006/relationships/notesMaster" Target="/ppt/notesMasters/notesMaster1.xml" Id="R38853141aafa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56ece16bb84363" /><Relationship Type="http://schemas.openxmlformats.org/officeDocument/2006/relationships/notesMaster" Target="/ppt/notesMasters/notesMaster1.xml" Id="R7c07f505005e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8520390d14291" /><Relationship Type="http://schemas.openxmlformats.org/officeDocument/2006/relationships/notesMaster" Target="/ppt/notesMasters/notesMaster1.xml" Id="Rc3ffe3cc5f1648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7cc546e3bd4b93" /><Relationship Type="http://schemas.openxmlformats.org/officeDocument/2006/relationships/notesMaster" Target="/ppt/notesMasters/notesMaster1.xml" Id="R57a4b58b3e1a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518c33e3234b64" /><Relationship Type="http://schemas.openxmlformats.org/officeDocument/2006/relationships/notesMaster" Target="/ppt/notesMasters/notesMaster1.xml" Id="R0605dcf9425a43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849d2d0d44ab4" /><Relationship Type="http://schemas.openxmlformats.org/officeDocument/2006/relationships/notesMaster" Target="/ppt/notesMasters/notesMaster1.xml" Id="R05dc93e5fd00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88e2b08ea74d55" /><Relationship Type="http://schemas.openxmlformats.org/officeDocument/2006/relationships/notesMaster" Target="/ppt/notesMasters/notesMaster1.xml" Id="R296e255c02da47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66b094d7ba42c3" /><Relationship Type="http://schemas.openxmlformats.org/officeDocument/2006/relationships/notesMaster" Target="/ppt/notesMasters/notesMaster1.xml" Id="R7e0acedff54d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ef9c2b2d174079" /><Relationship Type="http://schemas.openxmlformats.org/officeDocument/2006/relationships/notesMaster" Target="/ppt/notesMasters/notesMaster1.xml" Id="R6deacdc6c58e4b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b85161f8e14c21" /><Relationship Type="http://schemas.openxmlformats.org/officeDocument/2006/relationships/notesMaster" Target="/ppt/notesMasters/notesMaster1.xml" Id="R7b9f0d33d5b147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aee6b431964413" /><Relationship Type="http://schemas.openxmlformats.org/officeDocument/2006/relationships/notesMaster" Target="/ppt/notesMasters/notesMaster1.xml" Id="Rd86ddd6bbe04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产品介绍预稿。当前五场景及阶段测量已完成，UOS 全系统及实际 24 小时离线、容量验收待目标环境准备后执行。事实依据为 docs/implementation/test-report.md 与 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来源：docs/evidence/five-scenes.json；docs/evidence/counter-reliability.json。五场景实际协议状态转换共 16 项通过。计数可靠性另有新增一万事件与重启、断连检查。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来源：docs/implementation/architecture.md；Platform/internal/app、cloudsync、coordination 与 thingsboard。业务云边连接使用 mTLS，DataTransfer 与本机业务桥使用本地 gRPC。每个节点具有独立业务数据库。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实际截图：docs/evidence/screenshots/cloud-1440.png。浏览器功能检查：docs/evidence/frontend-results.json。画面是开发环境的实时页面，数据数量对应截图时刻。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实际截图：docs/evidence/screenshots/editor-1440.png。实现：Frontends/src；Platform/internal/definition 与 engine。发布检查定义种类、类型、依赖及版本，人工从评审页面发布。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实际截图：docs/evidence/screenshots/edge-390-viewport.png，展示完整移动视口。检查尺寸为 390×844。静态资源随边缘部署，本地使用已同步的有效权限包。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实际截图：docs/evidence/screenshots/screen-1920.png；实现：Frontends。大屏使用同一业务数据，可配置指标、趋势及进一步查询的范围。当前截图中的未知值与来源状态按实际页面保留。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来源：Platform/internal/control 与 identity；docs/implementation/architecture.md。业务强制需要两位不同工程师和一位领导，安全强制还需要指定现场安全员在本地以二次认证确认。各步骤前再次检查物理联锁。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来源：Platform/internal/store、engine；docs/implementation/architecture.md；docs/evidence/archive-postgres-v2.json。默认 GOOD 参与计算，原始质量和原因保存。补算按照历史规则及资产版本计算，不触发设备控制。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来源：Platform/internal/ai、mcp；docs/evidence/mcp-client.json、frontend-results.json。固定模型模拟器检验流式输出、工具调用、三类定义草稿及错误分支。AI 不能读取秘密、直接发布或操作设备。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来源：docs/evidence/capacity-disk-60m.json。500 台设备为 200 Modbus、200 MQTT、100 OPC-UA。3600.0127 秒保存 18654020 条单测点消息，输入与保存一致。最大 RSS 61341696 字节，1000 次控制 p99 18.584ms。完整时长对应报告内二进制 SHA-256，后续批量和归档变更另有回归。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来源：docs/evidence/A06-durable-100000.json、api-postgres-180s.json、browser-latency-20.json、site-150-faults-100.json。A06 使用实际 DataTransfer 进程、gRPC 与独立业务 SQLite 消费者。API 查询预置 30 天原始样本和三年汇总。20 个独立浏览器会话另行记录 30 秒 DOM 更新与两次动画帧的延迟。现场故障持续 1333.94 秒，四种故障各 25 次，24 小时持续验收待 UOS 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来源：用户确认的完整交付计划；docs/implementation/requirements.md、test-report.md。UOS VM 尚待创建。A08、A09 和 A12 实际24小时检查及A01完整部署待执行。完整原始保留的总容量包含投影、修订、发件箱、审计和备份，需在24小时实测后调整虚拟机容量。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来源：用户确认的完整交付计划及项目 README。10月20日来自往年经验，按学校和发榜单位后续通知调整。开源固定版本为 ThingsBoard CE v4.3.1.5、Edge 4.3.1.1EDGE。参赛者署名及声明函手续由参赛者完成。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1d1ee8dd7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7913958464c98" /><Relationship Type="http://schemas.openxmlformats.org/officeDocument/2006/relationships/slideLayout" Target="/ppt/slideLayouts/slideLayout1.xml" Id="Re3dd3de8bd22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d3de8bd22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f56b4e01d4e50" /><Relationship Type="http://schemas.openxmlformats.org/officeDocument/2006/relationships/notesSlide" Target="/ppt/notesSlides/notesSlide1.xml" Id="R81a488d77f9e4e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37a8ee98744cc" /><Relationship Type="http://schemas.openxmlformats.org/officeDocument/2006/relationships/notesSlide" Target="/ppt/notesSlides/notesSlide2.xml" Id="R6d480a9316fd49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8b94646e4c99" /><Relationship Type="http://schemas.openxmlformats.org/officeDocument/2006/relationships/notesSlide" Target="/ppt/notesSlides/notesSlide3.xml" Id="R5bb723e0d357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4bf236b9c4591" /><Relationship Type="http://schemas.openxmlformats.org/officeDocument/2006/relationships/image" Target="/ppt/media/image.png" Id="R11fe6a8284274dc5" /><Relationship Type="http://schemas.openxmlformats.org/officeDocument/2006/relationships/notesSlide" Target="/ppt/notesSlides/notesSlide4.xml" Id="Re16d5090e49c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64f5247ca4f1f" /><Relationship Type="http://schemas.openxmlformats.org/officeDocument/2006/relationships/image" Target="/ppt/media/image2.png" Id="R445c0a1a3922442d" /><Relationship Type="http://schemas.openxmlformats.org/officeDocument/2006/relationships/notesSlide" Target="/ppt/notesSlides/notesSlide5.xml" Id="R8bb0a6e9590f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b686f1c8548d5" /><Relationship Type="http://schemas.openxmlformats.org/officeDocument/2006/relationships/image" Target="/ppt/media/image3.png" Id="R3ab3680794ce4cfd" /><Relationship Type="http://schemas.openxmlformats.org/officeDocument/2006/relationships/notesSlide" Target="/ppt/notesSlides/notesSlide6.xml" Id="R9e2b5fd460b843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fc69c5f641c1" /><Relationship Type="http://schemas.openxmlformats.org/officeDocument/2006/relationships/image" Target="/ppt/media/image4.png" Id="R5e0e2fa9fc1f4b27" /><Relationship Type="http://schemas.openxmlformats.org/officeDocument/2006/relationships/notesSlide" Target="/ppt/notesSlides/notesSlide7.xml" Id="R5b998eaab17043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73f190dc0415c" /><Relationship Type="http://schemas.openxmlformats.org/officeDocument/2006/relationships/notesSlide" Target="/ppt/notesSlides/notesSlide8.xml" Id="R6727e6fddbde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40fc54758499f" /><Relationship Type="http://schemas.openxmlformats.org/officeDocument/2006/relationships/notesSlide" Target="/ppt/notesSlides/notesSlide9.xml" Id="R199a2b2e3b47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8b6dc256e4e15" /><Relationship Type="http://schemas.openxmlformats.org/officeDocument/2006/relationships/notesSlide" Target="/ppt/notesSlides/notesSlide10.xml" Id="R6d30524e11e547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20df76fae4716" /><Relationship Type="http://schemas.openxmlformats.org/officeDocument/2006/relationships/chart" Target="/ppt/slides/charts/chart1.xml" Id="Radc1c9a2692b4529" /><Relationship Type="http://schemas.openxmlformats.org/officeDocument/2006/relationships/notesSlide" Target="/ppt/notesSlides/notesSlide11.xml" Id="R2049c1de24f143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1d1b8f9a449f" /><Relationship Type="http://schemas.openxmlformats.org/officeDocument/2006/relationships/notesSlide" Target="/ppt/notesSlides/notesSlide12.xml" Id="R0b1de85051aa46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c9849fed4bbb" /><Relationship Type="http://schemas.openxmlformats.org/officeDocument/2006/relationships/notesSlide" Target="/ppt/notesSlides/notesSlide13.xml" Id="R3509ae44edf94c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e3a9728104df4" /><Relationship Type="http://schemas.openxmlformats.org/officeDocument/2006/relationships/notesSlide" Target="/ppt/notesSlides/notesSlide14.xml" Id="Rad6790f3a8a146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单测点消息每秒</c:v>
          </c:tx>
          <c:spPr>
            <a:solidFill xmlns:a="http://schemas.openxmlformats.org/drawingml/2006/main">
              <a:srgbClr val="137F77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latin typeface="Heiti SC"/>
                        <a:ea typeface="Heiti SC"/>
                        <a:cs typeface="Heiti SC"/>
                      </a:rPr>
                      <a:t>5000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latin typeface="Heiti SC"/>
                      <a:ea typeface="Heiti SC"/>
                      <a:cs typeface="Hei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>
                        <a:latin typeface="Heiti SC"/>
                        <a:ea typeface="Heiti SC"/>
                        <a:cs typeface="Heiti SC"/>
                      </a:rPr>
                      <a:t>5181.65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>
                      <a:latin typeface="Heiti SC"/>
                      <a:ea typeface="Heiti SC"/>
                      <a:cs typeface="Hei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验收门槛</c:v>
                </c:pt>
                <c:pt idx="1">
                  <c:v>实测结果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5000</c:v>
                </c:pt>
                <c:pt idx="1">
                  <c:v>5181.65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60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0AA65-41CF-46A6-A62F-F392C45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57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SmartFactory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D885-5C1E-4D76-B402-1CF0893C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60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工厂监测与现场联动平台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6B08E-834E-45CA-8206-BD6903F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8D4CF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A8D4CF"/>
                </a:solidFill>
                <a:latin typeface="Heiti SC"/>
                <a:ea typeface="Heiti SC"/>
                <a:cs typeface="Heiti SC"/>
              </a:rPr>
              <a:t>产品介绍与阶段验证结果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AB14B-5513-4EB3-A0E5-9D8943F2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4D5D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C4D5DB"/>
                </a:solidFill>
                <a:latin typeface="Heiti SC"/>
                <a:ea typeface="Heiti SC"/>
                <a:cs typeface="Heiti SC"/>
              </a:rPr>
              <a:t>2026 年 9 月 20 日预稿</a:t>
            </a:r>
          </a:p>
        </p:txBody>
      </p:sp>
    </p:spTree>
    <p:extLst>
      <p:ext uri="{BB962C8B-B14F-4D97-AF65-F5344CB8AC3E}">
        <p14:creationId xmlns:p14="http://schemas.microsoft.com/office/powerpoint/2010/main" val="139864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B4FBD-C5CB-4A3E-882F-636C01A3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五个场景中的监测与控制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286375"/>
                <a:gridCol w="3543300"/>
              </a:tblGrid>
              <a:tr h="698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场景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判断与动作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反馈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温湿度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阈值、回差与联锁后调节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读数恢复、执行回执</a:t>
                      </a:r>
                    </a:p>
                  </a:txBody>
                  <a:tcPr marL="142875" marR="142875" marT="123825" marB="123825" anchor="ctr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感应照明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有人点亮，无人延时关闭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状态变化、抖动处理</a:t>
                      </a:r>
                    </a:p>
                  </a:txBody>
                  <a:tcPr marL="142875" marR="142875" marT="123825" marB="123825" anchor="ctr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危气监测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烟雾、可燃气、CO 触发排风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跨节点步骤、降级原因</a:t>
                      </a:r>
                    </a:p>
                  </a:txBody>
                  <a:tcPr marL="142875" marR="142875" marT="123825" marB="123825" anchor="ctr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AGV 避障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距离不足停车，确认后恢复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停车状态、条件复核</a:t>
                      </a:r>
                    </a:p>
                  </a:txBody>
                  <a:tcPr marL="142875" marR="142875" marT="123825" marB="123825" anchor="ctr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货物计数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按事件身份去重并累计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重复、重启后的计数</a:t>
                      </a:r>
                    </a:p>
                  </a:txBody>
                  <a:tcPr marL="142875" marR="142875" marT="123825" marB="123825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5B28-A78F-4E13-BC5B-3014AF3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控制命令会改变模拟设备的后续状态，云端与现场页面展示反馈。</a:t>
            </a:r>
          </a:p>
        </p:txBody>
      </p:sp>
    </p:spTree>
    <p:extLst>
      <p:ext uri="{BB962C8B-B14F-4D97-AF65-F5344CB8AC3E}">
        <p14:creationId xmlns:p14="http://schemas.microsoft.com/office/powerpoint/2010/main" val="875100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85600-FDBD-4F8F-8339-F9CB625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云端与现场的系统架构</a:t>
            </a:r>
          </a:p>
        </p:txBody>
      </p:sp>
      <p:sp>
        <p:nvSpPr>
          <p:cNvPr id="2" name="云端平台">
            <a:extLst xmlns:a="http://schemas.openxmlformats.org/drawingml/2006/main">
              <a:ext uri="{FF2B5EF4-FFF2-40B4-BE49-F238E27FC236}">
                <a16:creationId xmlns:a16="http://schemas.microsoft.com/office/drawing/2014/main" id="{67BC694B-E9C3-4984-A65E-767D699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71247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13335">
            <a:solidFill>
              <a:srgbClr val="86AEA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9BA50-12B5-47DF-89A2-F1C0628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0200"/>
            <a:ext cx="663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云端平台 · mTLS 同步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DAC8A-C051-4AAC-B76F-F1DAC0F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6638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ThingsBoard CE  ·  Go 业务服务</a:t>
            </a:r>
          </a:p>
        </p:txBody>
      </p:sp>
      <p:sp>
        <p:nvSpPr>
          <p:cNvPr id="5" name="配置中心">
            <a:extLst xmlns:a="http://schemas.openxmlformats.org/drawingml/2006/main">
              <a:ext uri="{FF2B5EF4-FFF2-40B4-BE49-F238E27FC236}">
                <a16:creationId xmlns:a16="http://schemas.microsoft.com/office/drawing/2014/main" id="{049169A2-BB46-4122-A4C0-BEF0670D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13335">
            <a:solidFill>
              <a:srgbClr val="9CAC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CA88C-D921-4903-AA9C-0A276BC6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9067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独立配置中心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565D-0FD1-4FC5-AE22-778237BA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33600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参数 Schema、版本与凭据</a:t>
            </a:r>
          </a:p>
        </p:txBody>
      </p:sp>
      <p:cxnSp>
        <p:nvCxnSpPr>
          <p:cNvPr id="39" name=""/>
          <p:cNvCxnSpPr>
            <a:stCxn xmlns:a="http://schemas.openxmlformats.org/drawingml/2006/main" id="5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7734300" y="210026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646E"/>
            </a:solidFill>
            <a:headEnd type="arrow" w="med" len="med"/>
          </a:ln>
        </p:spPr>
      </p:cxnSp>
      <p:sp>
        <p:nvSpPr>
          <p:cNvPr id="9" name="边缘节点1">
            <a:extLst xmlns:a="http://schemas.openxmlformats.org/drawingml/2006/main">
              <a:ext uri="{FF2B5EF4-FFF2-40B4-BE49-F238E27FC236}">
                <a16:creationId xmlns:a16="http://schemas.microsoft.com/office/drawing/2014/main" id="{553918BD-9CC3-48A6-A0F8-1C83D1C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8B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82A56-04A8-4250-ABC0-5A9B745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边缘节点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85F04-D088-417D-B75B-D18AD8F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ThingsBoard Edge / Go 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6BEC4-2214-4D93-BCB6-0CC1A71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DataTransfer /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2AF6D-46ED-4CF0-B478-7997C8B6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本地页面、授权与设备命令</a:t>
            </a:r>
          </a:p>
        </p:txBody>
      </p:sp>
      <p:cxnSp>
        <p:nvCxnSpPr>
          <p:cNvPr id="45" name=""/>
          <p:cNvCxnSpPr>
            <a:stCxn xmlns:a="http://schemas.openxmlformats.org/drawingml/2006/main" id="2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276475" y="2743200"/>
            <a:ext cx="189547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6AEA9"/>
            </a:solidFill>
            <a:headEnd type="arrow" w="med" len="med"/>
          </a:ln>
        </p:spPr>
      </p:cxnSp>
      <p:sp>
        <p:nvSpPr>
          <p:cNvPr id="15" name="边缘节点2">
            <a:extLst xmlns:a="http://schemas.openxmlformats.org/drawingml/2006/main">
              <a:ext uri="{FF2B5EF4-FFF2-40B4-BE49-F238E27FC236}">
                <a16:creationId xmlns:a16="http://schemas.microsoft.com/office/drawing/2014/main" id="{86166182-7970-47C0-9F3E-C6585551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433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8B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F7EC1-707A-4603-BE01-6A5D1F11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边缘节点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3A7A0-04B6-43AC-B0BE-749C957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481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ThingsBoard Edge / Go 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7267E-4803-4A20-9808-78FA92A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006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DataTransfer /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A2778-369D-477C-B855-1F14E956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530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本地页面、授权与设备命令</a:t>
            </a:r>
          </a:p>
        </p:txBody>
      </p:sp>
      <p:cxnSp>
        <p:nvCxnSpPr>
          <p:cNvPr id="51" name=""/>
          <p:cNvCxnSpPr>
            <a:stCxn xmlns:a="http://schemas.openxmlformats.org/drawingml/2006/main" id="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171950" y="2743200"/>
            <a:ext cx="192405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6AEA9"/>
            </a:solidFill>
            <a:headEnd type="arrow" w="med" len="med"/>
          </a:ln>
        </p:spPr>
      </p:cxnSp>
      <p:sp>
        <p:nvSpPr>
          <p:cNvPr id="21" name="边缘节点3">
            <a:extLst xmlns:a="http://schemas.openxmlformats.org/drawingml/2006/main">
              <a:ext uri="{FF2B5EF4-FFF2-40B4-BE49-F238E27FC236}">
                <a16:creationId xmlns:a16="http://schemas.microsoft.com/office/drawing/2014/main" id="{4764CB9D-DD28-4126-A3BF-F5C9898D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433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8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1F0EA-6C3C-4F55-8CCE-2559776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边缘节点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88DEC-6100-4A4B-B53C-B66CA4E5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481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ThingsBoard Edge / Go 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5F580-6CD7-4216-B074-34ADCAC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DataTransfer / 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A34BC-42D4-4491-85A0-FEF74268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530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本地页面、授权与设备命令</a:t>
            </a:r>
          </a:p>
        </p:txBody>
      </p:sp>
      <p:cxnSp>
        <p:nvCxnSpPr>
          <p:cNvPr id="57" name=""/>
          <p:cNvCxnSpPr>
            <a:stCxn xmlns:a="http://schemas.openxmlformats.org/drawingml/2006/main" id="2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171950" y="2743200"/>
            <a:ext cx="574357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6AEA9"/>
            </a:solidFill>
            <a:headEnd type="arrow" w="med" len="med"/>
          </a:ln>
        </p:spPr>
      </p:cxnSp>
      <p:sp>
        <p:nvSpPr>
          <p:cNvPr id="27" name="现场协调副本">
            <a:extLst xmlns:a="http://schemas.openxmlformats.org/drawingml/2006/main">
              <a:ext uri="{FF2B5EF4-FFF2-40B4-BE49-F238E27FC236}">
                <a16:creationId xmlns:a16="http://schemas.microsoft.com/office/drawing/2014/main" id="{CEDD96D0-90B9-4C1E-9473-21D5410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96000"/>
            <a:ext cx="67246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0">
            <a:solidFill>
              <a:srgbClr val="102B3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975ED-8B0B-4D60-BDF4-E712F36A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219825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三个 NATS JetStream 副本：状态、执行权与进度</a:t>
            </a:r>
          </a:p>
        </p:txBody>
      </p:sp>
      <p:cxnSp>
        <p:nvCxnSpPr>
          <p:cNvPr id="60" name=""/>
          <p:cNvCxnSpPr>
            <a:stCxn xmlns:a="http://schemas.openxmlformats.org/drawingml/2006/main" id="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2276475" y="5553075"/>
            <a:ext cx="3819525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86AEA9"/>
            </a:solidFill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096000" y="5553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6AEA9"/>
            </a:solidFill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6096000" y="5553075"/>
            <a:ext cx="3819525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86AEA9"/>
            </a:solidFill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278706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1F1B2-5ED0-4494-A376-9CD4E533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云端控制台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e6a8284274dc5"/>
          <a:stretch xmlns:a="http://schemas.openxmlformats.org/drawingml/2006/main"/>
        </p:blipFill>
        <p:spPr>
          <a:xfrm xmlns:a="http://schemas.openxmlformats.org/drawingml/2006/main">
            <a:off x="1088349" y="1381125"/>
            <a:ext cx="6262453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5431B-EB4C-4C27-A259-921CA8A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24025"/>
            <a:ext cx="327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同一入口查看工厂状态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D007E-52A8-4C74-8943-AAE8D76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276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设备管理、监控与编排页面共用业务 API。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D86DE-59C8-447C-BBCC-C0B2A5E4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2766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页面显示质量、来源状态和待投递数量。</a:t>
            </a:r>
          </a:p>
        </p:txBody>
      </p:sp>
    </p:spTree>
    <p:extLst>
      <p:ext uri="{BB962C8B-B14F-4D97-AF65-F5344CB8AC3E}">
        <p14:creationId xmlns:p14="http://schemas.microsoft.com/office/powerpoint/2010/main" val="644728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5DA0D-5610-4F92-AE13-A1708F3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分析、告警与联动预案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0a1a3922442d"/>
          <a:stretch xmlns:a="http://schemas.openxmlformats.org/drawingml/2006/main"/>
        </p:blipFill>
        <p:spPr>
          <a:xfrm xmlns:a="http://schemas.openxmlformats.org/drawingml/2006/main">
            <a:off x="1282065" y="1352550"/>
            <a:ext cx="7437120" cy="4648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752DF-7C44-4B85-939B-9F1E62C2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保存草稿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230FC-C20D-4477-BAAE-87EE519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校验类型与依赖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9579B-3BEE-4B91-8550-31C27DC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52875"/>
            <a:ext cx="2209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样本模拟</a:t>
            </a:r>
          </a:p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查看差异</a:t>
            </a:r>
          </a:p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评审与发布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D9480-7583-4F83-9A61-8ACF07B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示例：温度读数的一分钟平均值，结果持久保存并加入数据目录。</a:t>
            </a:r>
          </a:p>
        </p:txBody>
      </p:sp>
    </p:spTree>
    <p:extLst>
      <p:ext uri="{BB962C8B-B14F-4D97-AF65-F5344CB8AC3E}">
        <p14:creationId xmlns:p14="http://schemas.microsoft.com/office/powerpoint/2010/main" val="1485977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C51F4-49B9-4B6C-AC33-2EAE302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现场移动页面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3680794ce4cfd"/>
          <a:stretch xmlns:a="http://schemas.openxmlformats.org/drawingml/2006/main"/>
        </p:blipFill>
        <p:spPr>
          <a:xfrm xmlns:a="http://schemas.openxmlformats.org/drawingml/2006/main">
            <a:off x="1565147" y="1381125"/>
            <a:ext cx="2279906" cy="4933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BF4C-CCE0-42A3-AF43-E69734EC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19275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在设备现场完成批准与检查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3EA5A-BE48-41A5-9C82-9708271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6524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现场人员核对物理设备、协议地址与采集配置，再批准启用。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10626-D810-4932-8C37-DCBB636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67200"/>
            <a:ext cx="65246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断云期间，页面读取本地数据与既有权限，操作已发布预案并保存回执。</a:t>
            </a:r>
          </a:p>
        </p:txBody>
      </p:sp>
    </p:spTree>
    <p:extLst>
      <p:ext uri="{BB962C8B-B14F-4D97-AF65-F5344CB8AC3E}">
        <p14:creationId xmlns:p14="http://schemas.microsoft.com/office/powerpoint/2010/main" val="1978179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CE9F-C2B2-4D1D-82B4-F0DBD11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管理大屏与来源状态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e2fa9fc1f4b27"/>
          <a:stretch xmlns:a="http://schemas.openxmlformats.org/drawingml/2006/main"/>
        </p:blipFill>
        <p:spPr>
          <a:xfrm xmlns:a="http://schemas.openxmlformats.org/drawingml/2006/main">
            <a:off x="2278303" y="1352550"/>
            <a:ext cx="7635394" cy="472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63BF0-5ADA-4365-9537-23A80E0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EE0E3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CEE0E3"/>
                </a:solidFill>
                <a:latin typeface="Heiti SC"/>
                <a:ea typeface="Heiti SC"/>
                <a:cs typeface="Heiti SC"/>
              </a:rPr>
              <a:t>指标与趋势附带质量、来源及补传状态，支持进一步查看详情。</a:t>
            </a:r>
          </a:p>
        </p:txBody>
      </p:sp>
    </p:spTree>
    <p:extLst>
      <p:ext uri="{BB962C8B-B14F-4D97-AF65-F5344CB8AC3E}">
        <p14:creationId xmlns:p14="http://schemas.microsoft.com/office/powerpoint/2010/main" val="1757261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9308-7054-4E94-898E-919491D9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控制审批与现场责任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66294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操作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默认要求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普通即时控制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一名工程师和一名领导</a:t>
                      </a:r>
                    </a:p>
                  </a:txBody>
                  <a:tcPr marL="142875" marR="142875" marT="123825" marB="123825" anchor="ctr"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业务强制执行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两名工程师和一名领导</a:t>
                      </a:r>
                    </a:p>
                  </a:txBody>
                  <a:tcPr marL="142875" marR="142875" marT="123825" marB="123825" anchor="ctr"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安全强制执行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上述会签，加指定现场安全员本地二次认证</a:t>
                      </a:r>
                    </a:p>
                  </a:txBody>
                  <a:tcPr marL="142875" marR="142875" marT="123825" marB="123825" anchor="ctr"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物理安全联锁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每个设备步骤前检查当前联锁状态</a:t>
                      </a:r>
                    </a:p>
                  </a:txBody>
                  <a:tcPr marL="142875" marR="142875" marT="123825" marB="123825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EB6EB-4F04-42FC-9847-884BFCE0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5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EFE3-5A9E-4AEB-B581-AE78D605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人工确认有效期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532DA-ED59-49A0-9591-DC4D6B0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673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10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0686-CABD-4CEE-8096-74286BE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055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正式下发后的启动期限</a:t>
            </a:r>
          </a:p>
        </p:txBody>
      </p:sp>
    </p:spTree>
    <p:extLst>
      <p:ext uri="{BB962C8B-B14F-4D97-AF65-F5344CB8AC3E}">
        <p14:creationId xmlns:p14="http://schemas.microsoft.com/office/powerpoint/2010/main" val="9903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591F0-5D84-45ED-B929-99E1806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数据质量与历史修订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9D3A9-1629-434B-AC2F-32555D5E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完整原始记录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80B82-FA15-4670-8B92-FCCEF12A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值、精度、协议质量、时间来源，以及设备和资产版本随观测保存。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DCEF5-5F7F-4A58-BF0B-47079C4A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较早观测分块压缩，热数据和归档由同一查询入口读取。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0A0B9-15E5-489B-A490-0923E298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430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可检查的修订依据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9C83D-E231-4A20-AF73-B73B970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191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补传按相应历史规则和资产版本重算，保留旧值、新值与原因。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74446-8BF1-4A75-B3E8-CA7E834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5191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页面显示质量排除、已知缺口、来源状态与未完成补算。</a:t>
            </a:r>
          </a:p>
        </p:txBody>
      </p:sp>
    </p:spTree>
    <p:extLst>
      <p:ext uri="{BB962C8B-B14F-4D97-AF65-F5344CB8AC3E}">
        <p14:creationId xmlns:p14="http://schemas.microsoft.com/office/powerpoint/2010/main" val="511787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E7AA-873A-42FE-B15F-C9D067D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页面助手与外部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AC114-0BBE-41D8-85E7-ABBC12D5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查询按照数据目录逐步展开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083AF-9265-4254-9371-39A604CB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51244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1. 发现目录与字段结构</a:t>
            </a:r>
          </a:p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2. 选择资源及时间范围</a:t>
            </a:r>
          </a:p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3. 查询结果并查看质量信息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A5ADC-7C67-4E4D-953A-A79AD49C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66975"/>
            <a:ext cx="4695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草稿协作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A8A3A-A836-47CD-8EB9-37AD273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343275"/>
            <a:ext cx="469582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创建、修改、校验和差异比较使用与页面相同的定义对象。正式发布由人员在评审页面完成。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E0AD8-4C74-4E8E-868A-D74C7086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38850"/>
            <a:ext cx="1087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服务端按身份检查资源权限，模型端点、名称、密钥和超时可配置。</a:t>
            </a:r>
          </a:p>
        </p:txBody>
      </p:sp>
    </p:spTree>
    <p:extLst>
      <p:ext uri="{BB962C8B-B14F-4D97-AF65-F5344CB8AC3E}">
        <p14:creationId xmlns:p14="http://schemas.microsoft.com/office/powerpoint/2010/main" val="432493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59FE4-7E96-4D29-92F7-F8338EFF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500 台设备持续采集测量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" y="1657350"/>
          <a:ext xmlns:a="http://schemas.openxmlformats.org/drawingml/2006/main" cx="71056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c1c9a2692b452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5FA57-4CF8-4E9F-9AED-388E1233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单测点消息 / 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A1E1A-52D2-4A2B-A2A0-909E1D9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58.5 MiB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BE8B4-B8D1-4203-A22D-164853F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95575"/>
            <a:ext cx="3219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DataTransfer 最大 RSS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8D16C-EFEA-46E1-AB8C-39E1CFE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81425"/>
            <a:ext cx="3219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322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18.584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2AAEF-C194-45DB-B777-D62A1F4A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1000 次控制的 p99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C1314-5E2F-48B5-A2ED-E6BF014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48300"/>
            <a:ext cx="10877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60 分钟，共 18654020 条单测点消息，输入与保存数量一致。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6C57E-01F7-4EF1-BC5E-69A5781C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43625"/>
            <a:ext cx="1087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开发环境实测；完整时长对应报告中记录的二进制版本。</a:t>
            </a:r>
          </a:p>
        </p:txBody>
      </p:sp>
    </p:spTree>
    <p:extLst>
      <p:ext uri="{BB962C8B-B14F-4D97-AF65-F5344CB8AC3E}">
        <p14:creationId xmlns:p14="http://schemas.microsoft.com/office/powerpoint/2010/main" val="1533334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0F735-1B24-447A-8E4A-0B32D10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消息、页面与现场故障测量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000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检查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规模与结果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持久消息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10 万事件，丢确认 14285 次，3 次重启</a:t>
                      </a:r>
                    </a:p>
                  </a:txBody>
                  <a:tcPr marL="142875" marR="142875" marT="123825" marB="123825" anchor="ctr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确认与去重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已确认缺失 0，重复业务效果 0</a:t>
                      </a:r>
                    </a:p>
                  </a:txBody>
                  <a:tcPr marL="142875" marR="142875" marT="123825" marB="123825" anchor="ctr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实时与历史 API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20 SSE 订阅、10 查询客户端，持续 180 秒</a:t>
                      </a:r>
                    </a:p>
                  </a:txBody>
                  <a:tcPr marL="142875" marR="142875" marT="123825" marB="123825" anchor="ctr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查询与订阅延迟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历史 p95 1564.28 ms，SSE p95 1096 ms</a:t>
                      </a:r>
                    </a:p>
                  </a:txBody>
                  <a:tcPr marL="142875" marR="142875" marT="123825" marB="123825" anchor="ctr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页面实际显示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20 浏览器会话，435 个样本，p95 798 ms</a:t>
                      </a:r>
                    </a:p>
                  </a:txBody>
                  <a:tcPr marL="142875" marR="142875" marT="123825" marB="123825" anchor="ctr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现场故障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150 台设备、100 次故障，重复设备动作 0</a:t>
                      </a:r>
                    </a:p>
                  </a:txBody>
                  <a:tcPr marL="142875" marR="142875" marT="123825" marB="123825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2276A-135C-4C36-9956-DE2D1324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历史查询每次最多 20 条序列，每条最多 2000 点，均读取实际数据库。</a:t>
            </a:r>
          </a:p>
        </p:txBody>
      </p:sp>
    </p:spTree>
    <p:extLst>
      <p:ext uri="{BB962C8B-B14F-4D97-AF65-F5344CB8AC3E}">
        <p14:creationId xmlns:p14="http://schemas.microsoft.com/office/powerpoint/2010/main" val="1668138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FF186-7ABC-4647-B71C-5364BDAE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目标环境与后续验收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E39AD-14F9-41C3-8D7E-D9D6DA6A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统信 UOS Server V20 x86_64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02A63-B4E4-4B3C-8232-956E0DD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10839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初始配置为 8 vCPU、16GB 内存、220GB 磁盘，容量按完整测量调整。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028D1-FC1E-4574-AFC2-CF77C91F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48075"/>
            <a:ext cx="10839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500 设备单节点及三节点连续断云 24 小时，检查本地业务、权限和审计。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282C2-4840-4C63-9CE2-AAF5AA1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291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恢复链路限定为 100Mbps、20ms，测量六小时内的补传与补算。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7D08C-36D0-4D75-AA69-CE8D037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当前阶段结果来自开发环境，最终代码验收以全部必验项目通过为条件。</a:t>
            </a:r>
          </a:p>
        </p:txBody>
      </p:sp>
    </p:spTree>
    <p:extLst>
      <p:ext uri="{BB962C8B-B14F-4D97-AF65-F5344CB8AC3E}">
        <p14:creationId xmlns:p14="http://schemas.microsoft.com/office/powerpoint/2010/main" val="18494047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AB990-DB6F-485E-880C-1C30733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B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02B3B"/>
                </a:solidFill>
                <a:latin typeface="Heiti SC"/>
                <a:ea typeface="Heiti SC"/>
                <a:cs typeface="Heiti SC"/>
              </a:rPr>
              <a:t>交付内容与时间安排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6591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日期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交付安排</a:t>
                      </a:r>
                    </a:p>
                  </a:txBody>
                  <a:tcPr marL="142875" marR="142875" marT="123825" marB="123825" anchor="ctr">
                    <a:solidFill>
                      <a:srgbClr val="E4EFED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10 月 7 日前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产品介绍与 PPT 预稿</a:t>
                      </a:r>
                    </a:p>
                  </a:txBody>
                  <a:tcPr marL="142875" marR="142875" marT="123825" marB="123825" anchor="ctr"/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10 月 18 日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完整仿真验收目标</a:t>
                      </a:r>
                    </a:p>
                  </a:txBody>
                  <a:tcPr marL="142875" marR="142875" marT="123825" marB="123825" anchor="ctr"/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10 月 19 日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源码、部署包、设计与开发文档、测试报告及演示视频</a:t>
                      </a:r>
                    </a:p>
                  </a:txBody>
                  <a:tcPr marL="142875" marR="142875" marT="123825" marB="123825" anchor="ctr"/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10 月 20 日前</a:t>
                      </a:r>
                    </a:p>
                  </a:txBody>
                  <a:tcPr marL="142875" marR="142875" marT="123825" marB="123825" anchor="ctr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B3B"/>
                          </a:solidFill>
                          <a:latin typeface="Heiti SC"/>
                          <a:ea typeface="Heiti SC"/>
                          <a:cs typeface="Heiti SC"/>
                        </a:rPr>
                        <a:t>暂定最终材料准备时间，随正式通知调整</a:t>
                      </a:r>
                    </a:p>
                  </a:txBody>
                  <a:tcPr marL="142875" marR="142875" marT="123825" marB="123825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3AE8-E9E8-47E2-A316-88D8374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7F77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37F77"/>
                </a:solidFill>
                <a:latin typeface="Heiti SC"/>
                <a:ea typeface="Heiti SC"/>
                <a:cs typeface="Heiti SC"/>
              </a:rPr>
              <a:t>上游基础与自研内容分别说明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7A1F-1C22-49CF-AB6F-10E908FC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B646E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B646E"/>
                </a:solidFill>
                <a:latin typeface="Heiti SC"/>
                <a:ea typeface="Heiti SC"/>
                <a:cs typeface="Heiti SC"/>
              </a:rPr>
              <a:t>源码包保留许可证、组件清单、修改说明、公共契约及可复现验收工具。</a:t>
            </a:r>
          </a:p>
        </p:txBody>
      </p:sp>
    </p:spTree>
    <p:extLst>
      <p:ext uri="{BB962C8B-B14F-4D97-AF65-F5344CB8AC3E}">
        <p14:creationId xmlns:p14="http://schemas.microsoft.com/office/powerpoint/2010/main" val="628735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SmartFactory</dc:creator>
  <lastModifiedBy>Walnut Exporter</lastModifiedBy>
  <dc:title>Presentation</dc:title>
  <dcterms:created xsi:type="dcterms:W3CDTF">2026-09-20T07:28:13.4170000Z</dcterms:created>
  <dcterms:modified xsi:type="dcterms:W3CDTF">2026-09-20T07:28:13.4170000Z</dcterms:modified>
</coreProperties>
</file>